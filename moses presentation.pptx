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72" r:id="rId4"/>
    <p:sldId id="273" r:id="rId5"/>
    <p:sldId id="274" r:id="rId6"/>
    <p:sldId id="275" r:id="rId7"/>
    <p:sldId id="276" r:id="rId8"/>
    <p:sldId id="269" r:id="rId9"/>
    <p:sldId id="270" r:id="rId10"/>
    <p:sldId id="268" r:id="rId11"/>
    <p:sldId id="267" r:id="rId12"/>
    <p:sldId id="291" r:id="rId13"/>
    <p:sldId id="288" r:id="rId14"/>
    <p:sldId id="289" r:id="rId15"/>
    <p:sldId id="287" r:id="rId16"/>
    <p:sldId id="29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D7AA03A-6984-4C94-BF58-B24473BD8121}" type="datetimeFigureOut">
              <a:rPr lang="en-MW" smtClean="0"/>
              <a:t>12/05/2026</a:t>
            </a:fld>
            <a:endParaRPr lang="en-MW"/>
          </a:p>
        </p:txBody>
      </p:sp>
      <p:sp>
        <p:nvSpPr>
          <p:cNvPr id="5" name="Footer Placeholder 4"/>
          <p:cNvSpPr>
            <a:spLocks noGrp="1"/>
          </p:cNvSpPr>
          <p:nvPr>
            <p:ph type="ftr" sz="quarter" idx="11"/>
          </p:nvPr>
        </p:nvSpPr>
        <p:spPr/>
        <p:txBody>
          <a:bodyPr/>
          <a:lstStyle/>
          <a:p>
            <a:endParaRPr lang="en-MW"/>
          </a:p>
        </p:txBody>
      </p:sp>
      <p:sp>
        <p:nvSpPr>
          <p:cNvPr id="6" name="Slide Number Placeholder 5"/>
          <p:cNvSpPr>
            <a:spLocks noGrp="1"/>
          </p:cNvSpPr>
          <p:nvPr>
            <p:ph type="sldNum" sz="quarter" idx="12"/>
          </p:nvPr>
        </p:nvSpPr>
        <p:spPr/>
        <p:txBody>
          <a:bodyPr/>
          <a:lstStyle/>
          <a:p>
            <a:fld id="{FF9E7588-F11D-4955-8089-7E6708C8AC7D}" type="slidenum">
              <a:rPr lang="en-MW" smtClean="0"/>
              <a:t>‹#›</a:t>
            </a:fld>
            <a:endParaRPr lang="en-MW"/>
          </a:p>
        </p:txBody>
      </p:sp>
    </p:spTree>
    <p:extLst>
      <p:ext uri="{BB962C8B-B14F-4D97-AF65-F5344CB8AC3E}">
        <p14:creationId xmlns:p14="http://schemas.microsoft.com/office/powerpoint/2010/main" val="2601482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7AA03A-6984-4C94-BF58-B24473BD8121}" type="datetimeFigureOut">
              <a:rPr lang="en-MW" smtClean="0"/>
              <a:t>12/05/2026</a:t>
            </a:fld>
            <a:endParaRPr lang="en-MW"/>
          </a:p>
        </p:txBody>
      </p:sp>
      <p:sp>
        <p:nvSpPr>
          <p:cNvPr id="5" name="Footer Placeholder 4"/>
          <p:cNvSpPr>
            <a:spLocks noGrp="1"/>
          </p:cNvSpPr>
          <p:nvPr>
            <p:ph type="ftr" sz="quarter" idx="11"/>
          </p:nvPr>
        </p:nvSpPr>
        <p:spPr/>
        <p:txBody>
          <a:bodyPr/>
          <a:lstStyle/>
          <a:p>
            <a:endParaRPr lang="en-MW"/>
          </a:p>
        </p:txBody>
      </p:sp>
      <p:sp>
        <p:nvSpPr>
          <p:cNvPr id="6" name="Slide Number Placeholder 5"/>
          <p:cNvSpPr>
            <a:spLocks noGrp="1"/>
          </p:cNvSpPr>
          <p:nvPr>
            <p:ph type="sldNum" sz="quarter" idx="12"/>
          </p:nvPr>
        </p:nvSpPr>
        <p:spPr/>
        <p:txBody>
          <a:bodyPr/>
          <a:lstStyle/>
          <a:p>
            <a:fld id="{FF9E7588-F11D-4955-8089-7E6708C8AC7D}" type="slidenum">
              <a:rPr lang="en-MW" smtClean="0"/>
              <a:t>‹#›</a:t>
            </a:fld>
            <a:endParaRPr lang="en-MW"/>
          </a:p>
        </p:txBody>
      </p:sp>
    </p:spTree>
    <p:extLst>
      <p:ext uri="{BB962C8B-B14F-4D97-AF65-F5344CB8AC3E}">
        <p14:creationId xmlns:p14="http://schemas.microsoft.com/office/powerpoint/2010/main" val="36245214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7AA03A-6984-4C94-BF58-B24473BD8121}" type="datetimeFigureOut">
              <a:rPr lang="en-MW" smtClean="0"/>
              <a:t>12/05/2026</a:t>
            </a:fld>
            <a:endParaRPr lang="en-MW"/>
          </a:p>
        </p:txBody>
      </p:sp>
      <p:sp>
        <p:nvSpPr>
          <p:cNvPr id="5" name="Footer Placeholder 4"/>
          <p:cNvSpPr>
            <a:spLocks noGrp="1"/>
          </p:cNvSpPr>
          <p:nvPr>
            <p:ph type="ftr" sz="quarter" idx="11"/>
          </p:nvPr>
        </p:nvSpPr>
        <p:spPr/>
        <p:txBody>
          <a:bodyPr/>
          <a:lstStyle/>
          <a:p>
            <a:endParaRPr lang="en-MW"/>
          </a:p>
        </p:txBody>
      </p:sp>
      <p:sp>
        <p:nvSpPr>
          <p:cNvPr id="6" name="Slide Number Placeholder 5"/>
          <p:cNvSpPr>
            <a:spLocks noGrp="1"/>
          </p:cNvSpPr>
          <p:nvPr>
            <p:ph type="sldNum" sz="quarter" idx="12"/>
          </p:nvPr>
        </p:nvSpPr>
        <p:spPr/>
        <p:txBody>
          <a:bodyPr/>
          <a:lstStyle/>
          <a:p>
            <a:fld id="{FF9E7588-F11D-4955-8089-7E6708C8AC7D}" type="slidenum">
              <a:rPr lang="en-MW" smtClean="0"/>
              <a:t>‹#›</a:t>
            </a:fld>
            <a:endParaRPr lang="en-MW"/>
          </a:p>
        </p:txBody>
      </p:sp>
    </p:spTree>
    <p:extLst>
      <p:ext uri="{BB962C8B-B14F-4D97-AF65-F5344CB8AC3E}">
        <p14:creationId xmlns:p14="http://schemas.microsoft.com/office/powerpoint/2010/main" val="24259806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D7AA03A-6984-4C94-BF58-B24473BD8121}" type="datetimeFigureOut">
              <a:rPr lang="en-MW" smtClean="0"/>
              <a:t>12/05/2026</a:t>
            </a:fld>
            <a:endParaRPr lang="en-MW"/>
          </a:p>
        </p:txBody>
      </p:sp>
      <p:sp>
        <p:nvSpPr>
          <p:cNvPr id="6" name="Footer Placeholder 5"/>
          <p:cNvSpPr>
            <a:spLocks noGrp="1"/>
          </p:cNvSpPr>
          <p:nvPr>
            <p:ph type="ftr" sz="quarter" idx="11"/>
          </p:nvPr>
        </p:nvSpPr>
        <p:spPr/>
        <p:txBody>
          <a:bodyPr/>
          <a:lstStyle/>
          <a:p>
            <a:endParaRPr lang="en-MW"/>
          </a:p>
        </p:txBody>
      </p:sp>
      <p:sp>
        <p:nvSpPr>
          <p:cNvPr id="7" name="Slide Number Placeholder 6"/>
          <p:cNvSpPr>
            <a:spLocks noGrp="1"/>
          </p:cNvSpPr>
          <p:nvPr>
            <p:ph type="sldNum" sz="quarter" idx="12"/>
          </p:nvPr>
        </p:nvSpPr>
        <p:spPr/>
        <p:txBody>
          <a:bodyPr/>
          <a:lstStyle/>
          <a:p>
            <a:fld id="{FF9E7588-F11D-4955-8089-7E6708C8AC7D}" type="slidenum">
              <a:rPr lang="en-MW" smtClean="0"/>
              <a:t>‹#›</a:t>
            </a:fld>
            <a:endParaRPr lang="en-MW"/>
          </a:p>
        </p:txBody>
      </p:sp>
    </p:spTree>
    <p:extLst>
      <p:ext uri="{BB962C8B-B14F-4D97-AF65-F5344CB8AC3E}">
        <p14:creationId xmlns:p14="http://schemas.microsoft.com/office/powerpoint/2010/main" val="14852129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D7AA03A-6984-4C94-BF58-B24473BD8121}" type="datetimeFigureOut">
              <a:rPr lang="en-MW" smtClean="0"/>
              <a:t>12/05/2026</a:t>
            </a:fld>
            <a:endParaRPr lang="en-MW"/>
          </a:p>
        </p:txBody>
      </p:sp>
      <p:sp>
        <p:nvSpPr>
          <p:cNvPr id="8" name="Footer Placeholder 7"/>
          <p:cNvSpPr>
            <a:spLocks noGrp="1"/>
          </p:cNvSpPr>
          <p:nvPr>
            <p:ph type="ftr" sz="quarter" idx="11"/>
          </p:nvPr>
        </p:nvSpPr>
        <p:spPr/>
        <p:txBody>
          <a:bodyPr/>
          <a:lstStyle/>
          <a:p>
            <a:endParaRPr lang="en-MW"/>
          </a:p>
        </p:txBody>
      </p:sp>
      <p:sp>
        <p:nvSpPr>
          <p:cNvPr id="9" name="Slide Number Placeholder 8"/>
          <p:cNvSpPr>
            <a:spLocks noGrp="1"/>
          </p:cNvSpPr>
          <p:nvPr>
            <p:ph type="sldNum" sz="quarter" idx="12"/>
          </p:nvPr>
        </p:nvSpPr>
        <p:spPr/>
        <p:txBody>
          <a:bodyPr/>
          <a:lstStyle/>
          <a:p>
            <a:fld id="{FF9E7588-F11D-4955-8089-7E6708C8AC7D}" type="slidenum">
              <a:rPr lang="en-MW" smtClean="0"/>
              <a:t>‹#›</a:t>
            </a:fld>
            <a:endParaRPr lang="en-MW"/>
          </a:p>
        </p:txBody>
      </p:sp>
    </p:spTree>
    <p:extLst>
      <p:ext uri="{BB962C8B-B14F-4D97-AF65-F5344CB8AC3E}">
        <p14:creationId xmlns:p14="http://schemas.microsoft.com/office/powerpoint/2010/main" val="11416332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D7AA03A-6984-4C94-BF58-B24473BD8121}" type="datetimeFigureOut">
              <a:rPr lang="en-MW" smtClean="0"/>
              <a:t>12/05/2026</a:t>
            </a:fld>
            <a:endParaRPr lang="en-MW"/>
          </a:p>
        </p:txBody>
      </p:sp>
      <p:sp>
        <p:nvSpPr>
          <p:cNvPr id="4" name="Footer Placeholder 3"/>
          <p:cNvSpPr>
            <a:spLocks noGrp="1"/>
          </p:cNvSpPr>
          <p:nvPr>
            <p:ph type="ftr" sz="quarter" idx="11"/>
          </p:nvPr>
        </p:nvSpPr>
        <p:spPr/>
        <p:txBody>
          <a:bodyPr/>
          <a:lstStyle/>
          <a:p>
            <a:endParaRPr lang="en-MW"/>
          </a:p>
        </p:txBody>
      </p:sp>
      <p:sp>
        <p:nvSpPr>
          <p:cNvPr id="5" name="Slide Number Placeholder 4"/>
          <p:cNvSpPr>
            <a:spLocks noGrp="1"/>
          </p:cNvSpPr>
          <p:nvPr>
            <p:ph type="sldNum" sz="quarter" idx="12"/>
          </p:nvPr>
        </p:nvSpPr>
        <p:spPr/>
        <p:txBody>
          <a:bodyPr/>
          <a:lstStyle/>
          <a:p>
            <a:fld id="{FF9E7588-F11D-4955-8089-7E6708C8AC7D}" type="slidenum">
              <a:rPr lang="en-MW" smtClean="0"/>
              <a:t>‹#›</a:t>
            </a:fld>
            <a:endParaRPr lang="en-MW"/>
          </a:p>
        </p:txBody>
      </p:sp>
    </p:spTree>
    <p:extLst>
      <p:ext uri="{BB962C8B-B14F-4D97-AF65-F5344CB8AC3E}">
        <p14:creationId xmlns:p14="http://schemas.microsoft.com/office/powerpoint/2010/main" val="26169134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7AA03A-6984-4C94-BF58-B24473BD8121}" type="datetimeFigureOut">
              <a:rPr lang="en-MW" smtClean="0"/>
              <a:t>12/05/2026</a:t>
            </a:fld>
            <a:endParaRPr lang="en-MW"/>
          </a:p>
        </p:txBody>
      </p:sp>
      <p:sp>
        <p:nvSpPr>
          <p:cNvPr id="3" name="Footer Placeholder 2"/>
          <p:cNvSpPr>
            <a:spLocks noGrp="1"/>
          </p:cNvSpPr>
          <p:nvPr>
            <p:ph type="ftr" sz="quarter" idx="11"/>
          </p:nvPr>
        </p:nvSpPr>
        <p:spPr/>
        <p:txBody>
          <a:bodyPr/>
          <a:lstStyle/>
          <a:p>
            <a:endParaRPr lang="en-MW"/>
          </a:p>
        </p:txBody>
      </p:sp>
      <p:sp>
        <p:nvSpPr>
          <p:cNvPr id="4" name="Slide Number Placeholder 3"/>
          <p:cNvSpPr>
            <a:spLocks noGrp="1"/>
          </p:cNvSpPr>
          <p:nvPr>
            <p:ph type="sldNum" sz="quarter" idx="12"/>
          </p:nvPr>
        </p:nvSpPr>
        <p:spPr/>
        <p:txBody>
          <a:bodyPr/>
          <a:lstStyle/>
          <a:p>
            <a:fld id="{FF9E7588-F11D-4955-8089-7E6708C8AC7D}" type="slidenum">
              <a:rPr lang="en-MW" smtClean="0"/>
              <a:t>‹#›</a:t>
            </a:fld>
            <a:endParaRPr lang="en-MW"/>
          </a:p>
        </p:txBody>
      </p:sp>
    </p:spTree>
    <p:extLst>
      <p:ext uri="{BB962C8B-B14F-4D97-AF65-F5344CB8AC3E}">
        <p14:creationId xmlns:p14="http://schemas.microsoft.com/office/powerpoint/2010/main" val="38161578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D7AA03A-6984-4C94-BF58-B24473BD8121}" type="datetimeFigureOut">
              <a:rPr lang="en-MW" smtClean="0"/>
              <a:t>12/05/2026</a:t>
            </a:fld>
            <a:endParaRPr lang="en-MW"/>
          </a:p>
        </p:txBody>
      </p:sp>
      <p:sp>
        <p:nvSpPr>
          <p:cNvPr id="6" name="Footer Placeholder 5"/>
          <p:cNvSpPr>
            <a:spLocks noGrp="1"/>
          </p:cNvSpPr>
          <p:nvPr>
            <p:ph type="ftr" sz="quarter" idx="11"/>
          </p:nvPr>
        </p:nvSpPr>
        <p:spPr/>
        <p:txBody>
          <a:bodyPr/>
          <a:lstStyle/>
          <a:p>
            <a:endParaRPr lang="en-MW"/>
          </a:p>
        </p:txBody>
      </p:sp>
      <p:sp>
        <p:nvSpPr>
          <p:cNvPr id="7" name="Slide Number Placeholder 6"/>
          <p:cNvSpPr>
            <a:spLocks noGrp="1"/>
          </p:cNvSpPr>
          <p:nvPr>
            <p:ph type="sldNum" sz="quarter" idx="12"/>
          </p:nvPr>
        </p:nvSpPr>
        <p:spPr/>
        <p:txBody>
          <a:bodyPr/>
          <a:lstStyle/>
          <a:p>
            <a:fld id="{FF9E7588-F11D-4955-8089-7E6708C8AC7D}" type="slidenum">
              <a:rPr lang="en-MW" smtClean="0"/>
              <a:t>‹#›</a:t>
            </a:fld>
            <a:endParaRPr lang="en-MW"/>
          </a:p>
        </p:txBody>
      </p:sp>
    </p:spTree>
    <p:extLst>
      <p:ext uri="{BB962C8B-B14F-4D97-AF65-F5344CB8AC3E}">
        <p14:creationId xmlns:p14="http://schemas.microsoft.com/office/powerpoint/2010/main" val="31635703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D7AA03A-6984-4C94-BF58-B24473BD8121}" type="datetimeFigureOut">
              <a:rPr lang="en-MW" smtClean="0"/>
              <a:t>12/05/2026</a:t>
            </a:fld>
            <a:endParaRPr lang="en-MW"/>
          </a:p>
        </p:txBody>
      </p:sp>
      <p:sp>
        <p:nvSpPr>
          <p:cNvPr id="6" name="Footer Placeholder 5"/>
          <p:cNvSpPr>
            <a:spLocks noGrp="1"/>
          </p:cNvSpPr>
          <p:nvPr>
            <p:ph type="ftr" sz="quarter" idx="11"/>
          </p:nvPr>
        </p:nvSpPr>
        <p:spPr/>
        <p:txBody>
          <a:bodyPr/>
          <a:lstStyle/>
          <a:p>
            <a:endParaRPr lang="en-MW"/>
          </a:p>
        </p:txBody>
      </p:sp>
      <p:sp>
        <p:nvSpPr>
          <p:cNvPr id="7" name="Slide Number Placeholder 6"/>
          <p:cNvSpPr>
            <a:spLocks noGrp="1"/>
          </p:cNvSpPr>
          <p:nvPr>
            <p:ph type="sldNum" sz="quarter" idx="12"/>
          </p:nvPr>
        </p:nvSpPr>
        <p:spPr/>
        <p:txBody>
          <a:bodyPr/>
          <a:lstStyle/>
          <a:p>
            <a:fld id="{FF9E7588-F11D-4955-8089-7E6708C8AC7D}" type="slidenum">
              <a:rPr lang="en-MW" smtClean="0"/>
              <a:t>‹#›</a:t>
            </a:fld>
            <a:endParaRPr lang="en-MW"/>
          </a:p>
        </p:txBody>
      </p:sp>
    </p:spTree>
    <p:extLst>
      <p:ext uri="{BB962C8B-B14F-4D97-AF65-F5344CB8AC3E}">
        <p14:creationId xmlns:p14="http://schemas.microsoft.com/office/powerpoint/2010/main" val="8079000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7AA03A-6984-4C94-BF58-B24473BD8121}" type="datetimeFigureOut">
              <a:rPr lang="en-MW" smtClean="0"/>
              <a:t>12/05/2026</a:t>
            </a:fld>
            <a:endParaRPr lang="en-MW"/>
          </a:p>
        </p:txBody>
      </p:sp>
      <p:sp>
        <p:nvSpPr>
          <p:cNvPr id="5" name="Footer Placeholder 4"/>
          <p:cNvSpPr>
            <a:spLocks noGrp="1"/>
          </p:cNvSpPr>
          <p:nvPr>
            <p:ph type="ftr" sz="quarter" idx="11"/>
          </p:nvPr>
        </p:nvSpPr>
        <p:spPr/>
        <p:txBody>
          <a:bodyPr/>
          <a:lstStyle/>
          <a:p>
            <a:endParaRPr lang="en-MW"/>
          </a:p>
        </p:txBody>
      </p:sp>
      <p:sp>
        <p:nvSpPr>
          <p:cNvPr id="6" name="Slide Number Placeholder 5"/>
          <p:cNvSpPr>
            <a:spLocks noGrp="1"/>
          </p:cNvSpPr>
          <p:nvPr>
            <p:ph type="sldNum" sz="quarter" idx="12"/>
          </p:nvPr>
        </p:nvSpPr>
        <p:spPr/>
        <p:txBody>
          <a:bodyPr/>
          <a:lstStyle/>
          <a:p>
            <a:fld id="{FF9E7588-F11D-4955-8089-7E6708C8AC7D}" type="slidenum">
              <a:rPr lang="en-MW" smtClean="0"/>
              <a:t>‹#›</a:t>
            </a:fld>
            <a:endParaRPr lang="en-MW"/>
          </a:p>
        </p:txBody>
      </p:sp>
    </p:spTree>
    <p:extLst>
      <p:ext uri="{BB962C8B-B14F-4D97-AF65-F5344CB8AC3E}">
        <p14:creationId xmlns:p14="http://schemas.microsoft.com/office/powerpoint/2010/main" val="7688871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7AA03A-6984-4C94-BF58-B24473BD8121}" type="datetimeFigureOut">
              <a:rPr lang="en-MW" smtClean="0"/>
              <a:t>12/05/2026</a:t>
            </a:fld>
            <a:endParaRPr lang="en-MW"/>
          </a:p>
        </p:txBody>
      </p:sp>
      <p:sp>
        <p:nvSpPr>
          <p:cNvPr id="5" name="Footer Placeholder 4"/>
          <p:cNvSpPr>
            <a:spLocks noGrp="1"/>
          </p:cNvSpPr>
          <p:nvPr>
            <p:ph type="ftr" sz="quarter" idx="11"/>
          </p:nvPr>
        </p:nvSpPr>
        <p:spPr/>
        <p:txBody>
          <a:bodyPr/>
          <a:lstStyle/>
          <a:p>
            <a:endParaRPr lang="en-MW"/>
          </a:p>
        </p:txBody>
      </p:sp>
      <p:sp>
        <p:nvSpPr>
          <p:cNvPr id="6" name="Slide Number Placeholder 5"/>
          <p:cNvSpPr>
            <a:spLocks noGrp="1"/>
          </p:cNvSpPr>
          <p:nvPr>
            <p:ph type="sldNum" sz="quarter" idx="12"/>
          </p:nvPr>
        </p:nvSpPr>
        <p:spPr/>
        <p:txBody>
          <a:bodyPr/>
          <a:lstStyle/>
          <a:p>
            <a:fld id="{FF9E7588-F11D-4955-8089-7E6708C8AC7D}" type="slidenum">
              <a:rPr lang="en-MW" smtClean="0"/>
              <a:t>‹#›</a:t>
            </a:fld>
            <a:endParaRPr lang="en-MW"/>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5955703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7AA03A-6984-4C94-BF58-B24473BD8121}" type="datetimeFigureOut">
              <a:rPr lang="en-MW" smtClean="0"/>
              <a:t>12/05/2026</a:t>
            </a:fld>
            <a:endParaRPr lang="en-MW"/>
          </a:p>
        </p:txBody>
      </p:sp>
      <p:sp>
        <p:nvSpPr>
          <p:cNvPr id="5" name="Footer Placeholder 4"/>
          <p:cNvSpPr>
            <a:spLocks noGrp="1"/>
          </p:cNvSpPr>
          <p:nvPr>
            <p:ph type="ftr" sz="quarter" idx="11"/>
          </p:nvPr>
        </p:nvSpPr>
        <p:spPr/>
        <p:txBody>
          <a:bodyPr/>
          <a:lstStyle/>
          <a:p>
            <a:endParaRPr lang="en-MW"/>
          </a:p>
        </p:txBody>
      </p:sp>
      <p:sp>
        <p:nvSpPr>
          <p:cNvPr id="6" name="Slide Number Placeholder 5"/>
          <p:cNvSpPr>
            <a:spLocks noGrp="1"/>
          </p:cNvSpPr>
          <p:nvPr>
            <p:ph type="sldNum" sz="quarter" idx="12"/>
          </p:nvPr>
        </p:nvSpPr>
        <p:spPr/>
        <p:txBody>
          <a:bodyPr/>
          <a:lstStyle/>
          <a:p>
            <a:fld id="{FF9E7588-F11D-4955-8089-7E6708C8AC7D}" type="slidenum">
              <a:rPr lang="en-MW" smtClean="0"/>
              <a:t>‹#›</a:t>
            </a:fld>
            <a:endParaRPr lang="en-MW"/>
          </a:p>
        </p:txBody>
      </p:sp>
    </p:spTree>
    <p:extLst>
      <p:ext uri="{BB962C8B-B14F-4D97-AF65-F5344CB8AC3E}">
        <p14:creationId xmlns:p14="http://schemas.microsoft.com/office/powerpoint/2010/main" val="35340643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7AA03A-6984-4C94-BF58-B24473BD8121}" type="datetimeFigureOut">
              <a:rPr lang="en-MW" smtClean="0"/>
              <a:t>12/05/2026</a:t>
            </a:fld>
            <a:endParaRPr lang="en-MW"/>
          </a:p>
        </p:txBody>
      </p:sp>
      <p:sp>
        <p:nvSpPr>
          <p:cNvPr id="5" name="Footer Placeholder 4"/>
          <p:cNvSpPr>
            <a:spLocks noGrp="1"/>
          </p:cNvSpPr>
          <p:nvPr>
            <p:ph type="ftr" sz="quarter" idx="11"/>
          </p:nvPr>
        </p:nvSpPr>
        <p:spPr/>
        <p:txBody>
          <a:bodyPr/>
          <a:lstStyle/>
          <a:p>
            <a:endParaRPr lang="en-MW"/>
          </a:p>
        </p:txBody>
      </p:sp>
      <p:sp>
        <p:nvSpPr>
          <p:cNvPr id="6" name="Slide Number Placeholder 5"/>
          <p:cNvSpPr>
            <a:spLocks noGrp="1"/>
          </p:cNvSpPr>
          <p:nvPr>
            <p:ph type="sldNum" sz="quarter" idx="12"/>
          </p:nvPr>
        </p:nvSpPr>
        <p:spPr/>
        <p:txBody>
          <a:bodyPr/>
          <a:lstStyle/>
          <a:p>
            <a:fld id="{FF9E7588-F11D-4955-8089-7E6708C8AC7D}" type="slidenum">
              <a:rPr lang="en-MW" smtClean="0"/>
              <a:t>‹#›</a:t>
            </a:fld>
            <a:endParaRPr lang="en-MW"/>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4552223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7AA03A-6984-4C94-BF58-B24473BD8121}" type="datetimeFigureOut">
              <a:rPr lang="en-MW" smtClean="0"/>
              <a:t>12/05/2026</a:t>
            </a:fld>
            <a:endParaRPr lang="en-MW"/>
          </a:p>
        </p:txBody>
      </p:sp>
      <p:sp>
        <p:nvSpPr>
          <p:cNvPr id="5" name="Footer Placeholder 4"/>
          <p:cNvSpPr>
            <a:spLocks noGrp="1"/>
          </p:cNvSpPr>
          <p:nvPr>
            <p:ph type="ftr" sz="quarter" idx="11"/>
          </p:nvPr>
        </p:nvSpPr>
        <p:spPr/>
        <p:txBody>
          <a:bodyPr/>
          <a:lstStyle/>
          <a:p>
            <a:endParaRPr lang="en-MW"/>
          </a:p>
        </p:txBody>
      </p:sp>
      <p:sp>
        <p:nvSpPr>
          <p:cNvPr id="6" name="Slide Number Placeholder 5"/>
          <p:cNvSpPr>
            <a:spLocks noGrp="1"/>
          </p:cNvSpPr>
          <p:nvPr>
            <p:ph type="sldNum" sz="quarter" idx="12"/>
          </p:nvPr>
        </p:nvSpPr>
        <p:spPr/>
        <p:txBody>
          <a:bodyPr/>
          <a:lstStyle/>
          <a:p>
            <a:fld id="{FF9E7588-F11D-4955-8089-7E6708C8AC7D}" type="slidenum">
              <a:rPr lang="en-MW" smtClean="0"/>
              <a:t>‹#›</a:t>
            </a:fld>
            <a:endParaRPr lang="en-MW"/>
          </a:p>
        </p:txBody>
      </p:sp>
    </p:spTree>
    <p:extLst>
      <p:ext uri="{BB962C8B-B14F-4D97-AF65-F5344CB8AC3E}">
        <p14:creationId xmlns:p14="http://schemas.microsoft.com/office/powerpoint/2010/main" val="3748070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7AA03A-6984-4C94-BF58-B24473BD8121}" type="datetimeFigureOut">
              <a:rPr lang="en-MW" smtClean="0"/>
              <a:t>12/05/2026</a:t>
            </a:fld>
            <a:endParaRPr lang="en-MW"/>
          </a:p>
        </p:txBody>
      </p:sp>
      <p:sp>
        <p:nvSpPr>
          <p:cNvPr id="5" name="Footer Placeholder 4"/>
          <p:cNvSpPr>
            <a:spLocks noGrp="1"/>
          </p:cNvSpPr>
          <p:nvPr>
            <p:ph type="ftr" sz="quarter" idx="11"/>
          </p:nvPr>
        </p:nvSpPr>
        <p:spPr/>
        <p:txBody>
          <a:bodyPr/>
          <a:lstStyle/>
          <a:p>
            <a:endParaRPr lang="en-MW"/>
          </a:p>
        </p:txBody>
      </p:sp>
      <p:sp>
        <p:nvSpPr>
          <p:cNvPr id="6" name="Slide Number Placeholder 5"/>
          <p:cNvSpPr>
            <a:spLocks noGrp="1"/>
          </p:cNvSpPr>
          <p:nvPr>
            <p:ph type="sldNum" sz="quarter" idx="12"/>
          </p:nvPr>
        </p:nvSpPr>
        <p:spPr/>
        <p:txBody>
          <a:bodyPr/>
          <a:lstStyle/>
          <a:p>
            <a:fld id="{FF9E7588-F11D-4955-8089-7E6708C8AC7D}" type="slidenum">
              <a:rPr lang="en-MW" smtClean="0"/>
              <a:t>‹#›</a:t>
            </a:fld>
            <a:endParaRPr lang="en-MW"/>
          </a:p>
        </p:txBody>
      </p:sp>
    </p:spTree>
    <p:extLst>
      <p:ext uri="{BB962C8B-B14F-4D97-AF65-F5344CB8AC3E}">
        <p14:creationId xmlns:p14="http://schemas.microsoft.com/office/powerpoint/2010/main" val="41000046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7AA03A-6984-4C94-BF58-B24473BD8121}" type="datetimeFigureOut">
              <a:rPr lang="en-MW" smtClean="0"/>
              <a:t>12/05/2026</a:t>
            </a:fld>
            <a:endParaRPr lang="en-MW"/>
          </a:p>
        </p:txBody>
      </p:sp>
      <p:sp>
        <p:nvSpPr>
          <p:cNvPr id="5" name="Footer Placeholder 4"/>
          <p:cNvSpPr>
            <a:spLocks noGrp="1"/>
          </p:cNvSpPr>
          <p:nvPr>
            <p:ph type="ftr" sz="quarter" idx="11"/>
          </p:nvPr>
        </p:nvSpPr>
        <p:spPr/>
        <p:txBody>
          <a:bodyPr/>
          <a:lstStyle/>
          <a:p>
            <a:endParaRPr lang="en-MW"/>
          </a:p>
        </p:txBody>
      </p:sp>
      <p:sp>
        <p:nvSpPr>
          <p:cNvPr id="6" name="Slide Number Placeholder 5"/>
          <p:cNvSpPr>
            <a:spLocks noGrp="1"/>
          </p:cNvSpPr>
          <p:nvPr>
            <p:ph type="sldNum" sz="quarter" idx="12"/>
          </p:nvPr>
        </p:nvSpPr>
        <p:spPr/>
        <p:txBody>
          <a:bodyPr/>
          <a:lstStyle/>
          <a:p>
            <a:fld id="{FF9E7588-F11D-4955-8089-7E6708C8AC7D}" type="slidenum">
              <a:rPr lang="en-MW" smtClean="0"/>
              <a:t>‹#›</a:t>
            </a:fld>
            <a:endParaRPr lang="en-MW"/>
          </a:p>
        </p:txBody>
      </p:sp>
    </p:spTree>
    <p:extLst>
      <p:ext uri="{BB962C8B-B14F-4D97-AF65-F5344CB8AC3E}">
        <p14:creationId xmlns:p14="http://schemas.microsoft.com/office/powerpoint/2010/main" val="24323419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D7AA03A-6984-4C94-BF58-B24473BD8121}" type="datetimeFigureOut">
              <a:rPr lang="en-MW" smtClean="0"/>
              <a:t>12/05/2026</a:t>
            </a:fld>
            <a:endParaRPr lang="en-MW"/>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MW"/>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F9E7588-F11D-4955-8089-7E6708C8AC7D}" type="slidenum">
              <a:rPr lang="en-MW" smtClean="0"/>
              <a:t>‹#›</a:t>
            </a:fld>
            <a:endParaRPr lang="en-MW"/>
          </a:p>
        </p:txBody>
      </p:sp>
    </p:spTree>
    <p:extLst>
      <p:ext uri="{BB962C8B-B14F-4D97-AF65-F5344CB8AC3E}">
        <p14:creationId xmlns:p14="http://schemas.microsoft.com/office/powerpoint/2010/main" val="308961350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ED58F-508A-1B4F-9214-DF74E6DB599E}"/>
              </a:ext>
            </a:extLst>
          </p:cNvPr>
          <p:cNvSpPr>
            <a:spLocks noGrp="1"/>
          </p:cNvSpPr>
          <p:nvPr>
            <p:ph type="ctrTitle"/>
          </p:nvPr>
        </p:nvSpPr>
        <p:spPr/>
        <p:txBody>
          <a:bodyPr/>
          <a:lstStyle/>
          <a:p>
            <a:pPr algn="ctr"/>
            <a:r>
              <a:rPr lang="en-US" b="1" dirty="0"/>
              <a:t>FISCAL ANOMALY AND FRAUD DETECTON SYSTEM</a:t>
            </a:r>
            <a:endParaRPr lang="en-MW" b="1" dirty="0"/>
          </a:p>
        </p:txBody>
      </p:sp>
      <p:sp>
        <p:nvSpPr>
          <p:cNvPr id="3" name="Subtitle 2">
            <a:extLst>
              <a:ext uri="{FF2B5EF4-FFF2-40B4-BE49-F238E27FC236}">
                <a16:creationId xmlns:a16="http://schemas.microsoft.com/office/drawing/2014/main" id="{4E754CD0-4358-C6EF-5C8F-F91C57BF76B7}"/>
              </a:ext>
            </a:extLst>
          </p:cNvPr>
          <p:cNvSpPr>
            <a:spLocks noGrp="1"/>
          </p:cNvSpPr>
          <p:nvPr>
            <p:ph type="subTitle" idx="1"/>
          </p:nvPr>
        </p:nvSpPr>
        <p:spPr/>
        <p:txBody>
          <a:bodyPr>
            <a:normAutofit fontScale="62500" lnSpcReduction="20000"/>
          </a:bodyPr>
          <a:lstStyle/>
          <a:p>
            <a:pPr algn="just"/>
            <a:r>
              <a:rPr lang="en-US" b="1" dirty="0">
                <a:solidFill>
                  <a:schemeClr val="tx1"/>
                </a:solidFill>
                <a:latin typeface="Times New Roman" panose="02020603050405020304" pitchFamily="18" charset="0"/>
                <a:cs typeface="Times New Roman" panose="02020603050405020304" pitchFamily="18" charset="0"/>
              </a:rPr>
              <a:t>STUDENT NAME: MOSES MAKUNGANYA JR</a:t>
            </a:r>
            <a:endParaRPr lang="en-US" dirty="0">
              <a:solidFill>
                <a:schemeClr val="tx1"/>
              </a:solidFill>
              <a:latin typeface="Times New Roman" panose="02020603050405020304" pitchFamily="18" charset="0"/>
              <a:cs typeface="Times New Roman" panose="02020603050405020304" pitchFamily="18" charset="0"/>
            </a:endParaRPr>
          </a:p>
          <a:p>
            <a:pPr algn="just"/>
            <a:r>
              <a:rPr lang="en-US" b="1" dirty="0">
                <a:solidFill>
                  <a:schemeClr val="tx1"/>
                </a:solidFill>
                <a:latin typeface="Times New Roman" panose="02020603050405020304" pitchFamily="18" charset="0"/>
                <a:cs typeface="Times New Roman" panose="02020603050405020304" pitchFamily="18" charset="0"/>
              </a:rPr>
              <a:t>REGISTRATION NUMBER: </a:t>
            </a:r>
            <a:r>
              <a:rPr lang="en-US" dirty="0">
                <a:solidFill>
                  <a:schemeClr val="tx1"/>
                </a:solidFill>
                <a:latin typeface="Times New Roman" panose="02020603050405020304" pitchFamily="18" charset="0"/>
                <a:cs typeface="Times New Roman" panose="02020603050405020304" pitchFamily="18" charset="0"/>
              </a:rPr>
              <a:t>23311351012</a:t>
            </a:r>
          </a:p>
          <a:p>
            <a:pPr algn="l"/>
            <a:r>
              <a:rPr lang="en-US" b="1" dirty="0">
                <a:solidFill>
                  <a:schemeClr val="tx1"/>
                </a:solidFill>
                <a:latin typeface="Times New Roman" panose="02020603050405020304" pitchFamily="18" charset="0"/>
                <a:cs typeface="Times New Roman" panose="02020603050405020304" pitchFamily="18" charset="0"/>
              </a:rPr>
              <a:t>PROGRAM: </a:t>
            </a:r>
            <a:r>
              <a:rPr lang="en-US" dirty="0">
                <a:solidFill>
                  <a:schemeClr val="tx1"/>
                </a:solidFill>
                <a:latin typeface="Times New Roman" panose="02020603050405020304" pitchFamily="18" charset="0"/>
                <a:cs typeface="Times New Roman" panose="02020603050405020304" pitchFamily="18" charset="0"/>
              </a:rPr>
              <a:t>BACHELOR OF SCIENCE IN COMPUTER SCIENCE</a:t>
            </a:r>
          </a:p>
          <a:p>
            <a:pPr algn="just"/>
            <a:r>
              <a:rPr lang="en-US" b="1" dirty="0">
                <a:solidFill>
                  <a:schemeClr val="tx1"/>
                </a:solidFill>
                <a:latin typeface="Times New Roman" panose="02020603050405020304" pitchFamily="18" charset="0"/>
                <a:cs typeface="Times New Roman" panose="02020603050405020304" pitchFamily="18" charset="0"/>
              </a:rPr>
              <a:t>GUIDE NAME: </a:t>
            </a:r>
            <a:r>
              <a:rPr lang="en-US" dirty="0" err="1">
                <a:solidFill>
                  <a:schemeClr val="tx1"/>
                </a:solidFill>
                <a:latin typeface="Times New Roman" panose="02020603050405020304" pitchFamily="18" charset="0"/>
                <a:cs typeface="Times New Roman" panose="02020603050405020304" pitchFamily="18" charset="0"/>
              </a:rPr>
              <a:t>Mr</a:t>
            </a:r>
            <a:r>
              <a:rPr lang="en-US" dirty="0">
                <a:solidFill>
                  <a:schemeClr val="tx1"/>
                </a:solidFill>
                <a:latin typeface="Times New Roman" panose="02020603050405020304" pitchFamily="18" charset="0"/>
                <a:cs typeface="Times New Roman" panose="02020603050405020304" pitchFamily="18" charset="0"/>
              </a:rPr>
              <a:t> MAXWELL PENSULO</a:t>
            </a:r>
          </a:p>
          <a:p>
            <a:endParaRPr lang="en-MW" dirty="0"/>
          </a:p>
        </p:txBody>
      </p:sp>
    </p:spTree>
    <p:extLst>
      <p:ext uri="{BB962C8B-B14F-4D97-AF65-F5344CB8AC3E}">
        <p14:creationId xmlns:p14="http://schemas.microsoft.com/office/powerpoint/2010/main" val="39791035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C729D-A42F-AA05-69B0-2C16BF483508}"/>
              </a:ext>
            </a:extLst>
          </p:cNvPr>
          <p:cNvSpPr>
            <a:spLocks noGrp="1"/>
          </p:cNvSpPr>
          <p:nvPr>
            <p:ph type="title"/>
          </p:nvPr>
        </p:nvSpPr>
        <p:spPr>
          <a:xfrm>
            <a:off x="677334" y="283028"/>
            <a:ext cx="8596668" cy="1320800"/>
          </a:xfrm>
        </p:spPr>
        <p:txBody>
          <a:bodyPr/>
          <a:lstStyle/>
          <a:p>
            <a:r>
              <a:rPr lang="en-US" b="1" dirty="0"/>
              <a:t>ABSTRACT</a:t>
            </a:r>
            <a:endParaRPr lang="en-MW" b="1" dirty="0"/>
          </a:p>
        </p:txBody>
      </p:sp>
      <p:sp>
        <p:nvSpPr>
          <p:cNvPr id="3" name="Content Placeholder 2">
            <a:extLst>
              <a:ext uri="{FF2B5EF4-FFF2-40B4-BE49-F238E27FC236}">
                <a16:creationId xmlns:a16="http://schemas.microsoft.com/office/drawing/2014/main" id="{98FFDA57-81E4-B273-9A14-F2EC4F7BC54C}"/>
              </a:ext>
            </a:extLst>
          </p:cNvPr>
          <p:cNvSpPr>
            <a:spLocks noGrp="1"/>
          </p:cNvSpPr>
          <p:nvPr>
            <p:ph idx="1"/>
          </p:nvPr>
        </p:nvSpPr>
        <p:spPr>
          <a:xfrm>
            <a:off x="677334" y="943428"/>
            <a:ext cx="8596668" cy="3880773"/>
          </a:xfrm>
        </p:spPr>
        <p:txBody>
          <a:bodyPr>
            <a:noAutofit/>
          </a:bodyPr>
          <a:lstStyle/>
          <a:p>
            <a:pPr marL="0" indent="0">
              <a:buNone/>
            </a:pPr>
            <a:endParaRPr lang="en-US" sz="1600" dirty="0"/>
          </a:p>
          <a:p>
            <a:pPr marL="0" indent="0">
              <a:buNone/>
            </a:pPr>
            <a:r>
              <a:rPr lang="en-US" sz="1600" dirty="0"/>
              <a:t>With the rapid growth of digital payment systems and online business platforms, financial transaction monitoring has become increasingly important for ensuring transparency, compliance, and fraud prevention. Traditional fiscal systems mainly rely on manual reporting and rule based monitoring, which are often slow, inefficient, and unable to detect evolving fraudulent behaviors in real time. These limitations create challenges for businesses and regulatory authorities in maintaining accurate financial records and identifying suspicious </a:t>
            </a:r>
            <a:r>
              <a:rPr lang="en-US" sz="1600" dirty="0" err="1"/>
              <a:t>activities.This</a:t>
            </a:r>
            <a:r>
              <a:rPr lang="en-US" sz="1600" dirty="0"/>
              <a:t> project proposes a Cloud Based Fiscal Integration System with Machine Learning Based Anomaly Detection. The system is designed to collect, process, and monitor transaction data from business systems, POS platforms, and payment gateways in real time. Using machine learning algorithms such as Isolation Forest and Local Outlier Factor, the platform analyzes transaction patterns and detects unusual behaviors that may indicate fraud, tax evasion, or abnormal financial </a:t>
            </a:r>
            <a:r>
              <a:rPr lang="en-US" sz="1600" dirty="0" err="1"/>
              <a:t>activities.The</a:t>
            </a:r>
            <a:r>
              <a:rPr lang="en-US" sz="1600" dirty="0"/>
              <a:t> system will be implemented as a web based platform with secure user authentication and personalized dashboards for registered users. It will provide real time transaction monitoring, anomaly alerts, reporting tools, and data visualization features to improve decision making and compliance management. The backend will be developed using Node.js, the frontend using React, and the machine learning services using Python. Firebase or PostgreSQL will be used for secure cloud data </a:t>
            </a:r>
            <a:r>
              <a:rPr lang="en-US" sz="1600" dirty="0" err="1"/>
              <a:t>storage.The</a:t>
            </a:r>
            <a:r>
              <a:rPr lang="en-US" sz="1600" dirty="0"/>
              <a:t> proposed solution aims to improve financial transparency, enhance fraud detection capabilities, and provide businesses with an intelligent fiscal monitoring platform capable of adapting to modern digital transaction environments.</a:t>
            </a:r>
          </a:p>
        </p:txBody>
      </p:sp>
    </p:spTree>
    <p:extLst>
      <p:ext uri="{BB962C8B-B14F-4D97-AF65-F5344CB8AC3E}">
        <p14:creationId xmlns:p14="http://schemas.microsoft.com/office/powerpoint/2010/main" val="37296812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83209-5C4B-E6E5-2F75-524B17235A2C}"/>
              </a:ext>
            </a:extLst>
          </p:cNvPr>
          <p:cNvSpPr>
            <a:spLocks noGrp="1"/>
          </p:cNvSpPr>
          <p:nvPr>
            <p:ph type="title"/>
          </p:nvPr>
        </p:nvSpPr>
        <p:spPr/>
        <p:txBody>
          <a:bodyPr/>
          <a:lstStyle/>
          <a:p>
            <a:r>
              <a:rPr lang="en-US" b="1" dirty="0"/>
              <a:t>MODULE DESCRIPTION </a:t>
            </a:r>
            <a:endParaRPr lang="en-MW" b="1" dirty="0"/>
          </a:p>
        </p:txBody>
      </p:sp>
      <p:sp>
        <p:nvSpPr>
          <p:cNvPr id="3" name="Content Placeholder 2">
            <a:extLst>
              <a:ext uri="{FF2B5EF4-FFF2-40B4-BE49-F238E27FC236}">
                <a16:creationId xmlns:a16="http://schemas.microsoft.com/office/drawing/2014/main" id="{F7E1AC2D-7CEA-787B-15A0-C1B2CDBAF05A}"/>
              </a:ext>
            </a:extLst>
          </p:cNvPr>
          <p:cNvSpPr>
            <a:spLocks noGrp="1"/>
          </p:cNvSpPr>
          <p:nvPr>
            <p:ph idx="1"/>
          </p:nvPr>
        </p:nvSpPr>
        <p:spPr/>
        <p:txBody>
          <a:bodyPr>
            <a:normAutofit/>
          </a:bodyPr>
          <a:lstStyle/>
          <a:p>
            <a:pPr>
              <a:buFont typeface="+mj-lt"/>
              <a:buAutoNum type="arabicPeriod"/>
            </a:pPr>
            <a:r>
              <a:rPr lang="en-US" dirty="0"/>
              <a:t>Authentication Module</a:t>
            </a:r>
          </a:p>
          <a:p>
            <a:pPr marL="0" indent="0">
              <a:buNone/>
            </a:pPr>
            <a:br>
              <a:rPr lang="en-US" dirty="0"/>
            </a:br>
            <a:r>
              <a:rPr lang="en-US" dirty="0"/>
              <a:t>Handles user registration, login, password hashing, JWT authentication, and session management. Protects system routes and ensures secure access control for registered users. Provides user interfaces for account creation and login. Validates user credentials, handles authentication requests, and redirects authenticated users to their personalized dashboard.</a:t>
            </a:r>
          </a:p>
        </p:txBody>
      </p:sp>
    </p:spTree>
    <p:extLst>
      <p:ext uri="{BB962C8B-B14F-4D97-AF65-F5344CB8AC3E}">
        <p14:creationId xmlns:p14="http://schemas.microsoft.com/office/powerpoint/2010/main" val="1850133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190A8-8632-037E-64BB-7856F049D44F}"/>
              </a:ext>
            </a:extLst>
          </p:cNvPr>
          <p:cNvSpPr>
            <a:spLocks noGrp="1"/>
          </p:cNvSpPr>
          <p:nvPr>
            <p:ph type="title"/>
          </p:nvPr>
        </p:nvSpPr>
        <p:spPr/>
        <p:txBody>
          <a:bodyPr/>
          <a:lstStyle/>
          <a:p>
            <a:r>
              <a:rPr lang="en-US" b="1" dirty="0"/>
              <a:t>CONT…</a:t>
            </a:r>
            <a:endParaRPr lang="en-MW" b="1" dirty="0"/>
          </a:p>
        </p:txBody>
      </p:sp>
      <p:sp>
        <p:nvSpPr>
          <p:cNvPr id="3" name="Content Placeholder 2">
            <a:extLst>
              <a:ext uri="{FF2B5EF4-FFF2-40B4-BE49-F238E27FC236}">
                <a16:creationId xmlns:a16="http://schemas.microsoft.com/office/drawing/2014/main" id="{9825350E-8F79-6D42-4A38-78E7E291CBE6}"/>
              </a:ext>
            </a:extLst>
          </p:cNvPr>
          <p:cNvSpPr>
            <a:spLocks noGrp="1"/>
          </p:cNvSpPr>
          <p:nvPr>
            <p:ph idx="1"/>
          </p:nvPr>
        </p:nvSpPr>
        <p:spPr/>
        <p:txBody>
          <a:bodyPr>
            <a:normAutofit/>
          </a:bodyPr>
          <a:lstStyle/>
          <a:p>
            <a:pPr>
              <a:buFont typeface="+mj-lt"/>
              <a:buAutoNum type="arabicPeriod" startAt="2"/>
            </a:pPr>
            <a:r>
              <a:rPr lang="en-US" b="1" dirty="0"/>
              <a:t>Analytics &amp; Dashboard Module</a:t>
            </a:r>
          </a:p>
          <a:p>
            <a:pPr marL="0" indent="0">
              <a:buNone/>
            </a:pPr>
            <a:br>
              <a:rPr lang="en-US" dirty="0"/>
            </a:br>
            <a:r>
              <a:rPr lang="en-US" dirty="0"/>
              <a:t> This module provides real time visualization and analysis of transaction data through an interactive dashboard. It displays key metrics such as transaction volumes, revenue trends, anomaly statistics, and transaction status distributions using charts and summary cards. The module helps users monitor financial activities, identify suspicious patterns, and make informed decisions through clear graphical insights and live system updates.</a:t>
            </a:r>
          </a:p>
        </p:txBody>
      </p:sp>
    </p:spTree>
    <p:extLst>
      <p:ext uri="{BB962C8B-B14F-4D97-AF65-F5344CB8AC3E}">
        <p14:creationId xmlns:p14="http://schemas.microsoft.com/office/powerpoint/2010/main" val="15770513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9EF9F-D9D2-AF60-755D-14840926CA27}"/>
              </a:ext>
            </a:extLst>
          </p:cNvPr>
          <p:cNvSpPr>
            <a:spLocks noGrp="1"/>
          </p:cNvSpPr>
          <p:nvPr>
            <p:ph type="title"/>
          </p:nvPr>
        </p:nvSpPr>
        <p:spPr/>
        <p:txBody>
          <a:bodyPr/>
          <a:lstStyle/>
          <a:p>
            <a:r>
              <a:rPr lang="en-US" b="1" dirty="0"/>
              <a:t>CONT…</a:t>
            </a:r>
            <a:endParaRPr lang="en-MW" b="1" dirty="0"/>
          </a:p>
        </p:txBody>
      </p:sp>
      <p:sp>
        <p:nvSpPr>
          <p:cNvPr id="3" name="Content Placeholder 2">
            <a:extLst>
              <a:ext uri="{FF2B5EF4-FFF2-40B4-BE49-F238E27FC236}">
                <a16:creationId xmlns:a16="http://schemas.microsoft.com/office/drawing/2014/main" id="{9A1C559B-1D98-753C-B763-060C3DF41F91}"/>
              </a:ext>
            </a:extLst>
          </p:cNvPr>
          <p:cNvSpPr>
            <a:spLocks noGrp="1"/>
          </p:cNvSpPr>
          <p:nvPr>
            <p:ph idx="1"/>
          </p:nvPr>
        </p:nvSpPr>
        <p:spPr/>
        <p:txBody>
          <a:bodyPr>
            <a:normAutofit/>
          </a:bodyPr>
          <a:lstStyle/>
          <a:p>
            <a:pPr marL="0" indent="0">
              <a:buNone/>
            </a:pPr>
            <a:r>
              <a:rPr lang="en-US" b="1" dirty="0"/>
              <a:t>3. Anomaly Detection Module</a:t>
            </a:r>
          </a:p>
          <a:p>
            <a:r>
              <a:rPr lang="en-US" dirty="0"/>
              <a:t>This module uses machine learning algorithms to analyze transaction behavior and detect suspicious activities in real time. The Python </a:t>
            </a:r>
            <a:r>
              <a:rPr lang="en-US" dirty="0" err="1"/>
              <a:t>FastAPI</a:t>
            </a:r>
            <a:r>
              <a:rPr lang="en-US" dirty="0"/>
              <a:t> service processes transaction data using models such as Isolation Forest and Local Outlier Factor to identify anomalies and assign risk scores. The frontend interface displays flagged transactions, anomaly severity levels, and detailed justifications for each alert, helping users quickly identify and respond to potential fraud or abnormal financial behavior.</a:t>
            </a:r>
          </a:p>
        </p:txBody>
      </p:sp>
    </p:spTree>
    <p:extLst>
      <p:ext uri="{BB962C8B-B14F-4D97-AF65-F5344CB8AC3E}">
        <p14:creationId xmlns:p14="http://schemas.microsoft.com/office/powerpoint/2010/main" val="20673846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C62EC-7CEC-88E9-FB73-D59F62A9CBF5}"/>
              </a:ext>
            </a:extLst>
          </p:cNvPr>
          <p:cNvSpPr>
            <a:spLocks noGrp="1"/>
          </p:cNvSpPr>
          <p:nvPr>
            <p:ph type="title"/>
          </p:nvPr>
        </p:nvSpPr>
        <p:spPr/>
        <p:txBody>
          <a:bodyPr/>
          <a:lstStyle/>
          <a:p>
            <a:r>
              <a:rPr lang="en-US" b="1" dirty="0"/>
              <a:t>CONT…</a:t>
            </a:r>
            <a:endParaRPr lang="en-MW" b="1" dirty="0"/>
          </a:p>
        </p:txBody>
      </p:sp>
      <p:sp>
        <p:nvSpPr>
          <p:cNvPr id="3" name="Content Placeholder 2">
            <a:extLst>
              <a:ext uri="{FF2B5EF4-FFF2-40B4-BE49-F238E27FC236}">
                <a16:creationId xmlns:a16="http://schemas.microsoft.com/office/drawing/2014/main" id="{E424A953-B14C-76D1-1362-54D375107ED6}"/>
              </a:ext>
            </a:extLst>
          </p:cNvPr>
          <p:cNvSpPr>
            <a:spLocks noGrp="1"/>
          </p:cNvSpPr>
          <p:nvPr>
            <p:ph idx="1"/>
          </p:nvPr>
        </p:nvSpPr>
        <p:spPr>
          <a:xfrm>
            <a:off x="838200" y="1825625"/>
            <a:ext cx="10515600" cy="4667250"/>
          </a:xfrm>
        </p:spPr>
        <p:txBody>
          <a:bodyPr>
            <a:normAutofit/>
          </a:bodyPr>
          <a:lstStyle/>
          <a:p>
            <a:pPr marL="0" indent="0">
              <a:buNone/>
            </a:pPr>
            <a:r>
              <a:rPr lang="en-US" b="1" dirty="0"/>
              <a:t>4. Report Generation Module</a:t>
            </a:r>
          </a:p>
          <a:p>
            <a:pPr marL="0" indent="0">
              <a:buNone/>
            </a:pPr>
            <a:r>
              <a:rPr lang="en-US" dirty="0"/>
              <a:t>This module enables users to generate and export transaction reports, anomaly summaries, and audit records in downloadable formats such as CSV and PDF. It provides filtering options based on date ranges, transaction status, and anomaly levels to support financial analysis and compliance reporting. The module helps users maintain accurate records, perform audits, and share structured reports for decision making and regulatory purposes.</a:t>
            </a:r>
            <a:endParaRPr lang="en-MW" dirty="0"/>
          </a:p>
        </p:txBody>
      </p:sp>
    </p:spTree>
    <p:extLst>
      <p:ext uri="{BB962C8B-B14F-4D97-AF65-F5344CB8AC3E}">
        <p14:creationId xmlns:p14="http://schemas.microsoft.com/office/powerpoint/2010/main" val="42315541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AA097-A6B7-A6B0-8202-982220F15E3F}"/>
              </a:ext>
            </a:extLst>
          </p:cNvPr>
          <p:cNvSpPr>
            <a:spLocks noGrp="1"/>
          </p:cNvSpPr>
          <p:nvPr>
            <p:ph type="title"/>
          </p:nvPr>
        </p:nvSpPr>
        <p:spPr/>
        <p:txBody>
          <a:bodyPr/>
          <a:lstStyle/>
          <a:p>
            <a:r>
              <a:rPr lang="en-US" b="1" dirty="0"/>
              <a:t>CONT….</a:t>
            </a:r>
            <a:endParaRPr lang="en-MW" b="1" dirty="0"/>
          </a:p>
        </p:txBody>
      </p:sp>
      <p:sp>
        <p:nvSpPr>
          <p:cNvPr id="3" name="Content Placeholder 2">
            <a:extLst>
              <a:ext uri="{FF2B5EF4-FFF2-40B4-BE49-F238E27FC236}">
                <a16:creationId xmlns:a16="http://schemas.microsoft.com/office/drawing/2014/main" id="{0084F405-670C-F576-8718-521E4B1D41C7}"/>
              </a:ext>
            </a:extLst>
          </p:cNvPr>
          <p:cNvSpPr>
            <a:spLocks noGrp="1"/>
          </p:cNvSpPr>
          <p:nvPr>
            <p:ph idx="1"/>
          </p:nvPr>
        </p:nvSpPr>
        <p:spPr/>
        <p:txBody>
          <a:bodyPr>
            <a:normAutofit/>
          </a:bodyPr>
          <a:lstStyle/>
          <a:p>
            <a:pPr marL="0" indent="0">
              <a:buNone/>
            </a:pPr>
            <a:r>
              <a:rPr lang="en-US" b="1" dirty="0"/>
              <a:t>6. Transaction Management Module</a:t>
            </a:r>
          </a:p>
          <a:p>
            <a:pPr marL="0" indent="0">
              <a:buNone/>
            </a:pPr>
            <a:r>
              <a:rPr lang="en-US" dirty="0"/>
              <a:t>This module manages all financial transactions in the system. It handles transaction creation, updates, retrieval, and deletion. It also supports external POS systems through secure API key integration for automatic transaction ingestion.</a:t>
            </a:r>
            <a:endParaRPr lang="en-MW" dirty="0"/>
          </a:p>
        </p:txBody>
      </p:sp>
    </p:spTree>
    <p:extLst>
      <p:ext uri="{BB962C8B-B14F-4D97-AF65-F5344CB8AC3E}">
        <p14:creationId xmlns:p14="http://schemas.microsoft.com/office/powerpoint/2010/main" val="14168441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DA682-6FE3-F76A-1A11-AA21D93E23B8}"/>
              </a:ext>
            </a:extLst>
          </p:cNvPr>
          <p:cNvSpPr>
            <a:spLocks noGrp="1"/>
          </p:cNvSpPr>
          <p:nvPr>
            <p:ph type="title"/>
          </p:nvPr>
        </p:nvSpPr>
        <p:spPr>
          <a:xfrm>
            <a:off x="754224" y="1"/>
            <a:ext cx="10515600" cy="1194318"/>
          </a:xfrm>
        </p:spPr>
        <p:txBody>
          <a:bodyPr/>
          <a:lstStyle/>
          <a:p>
            <a:r>
              <a:rPr lang="en-US" b="1" dirty="0"/>
              <a:t>LITERATURE REVIEW</a:t>
            </a:r>
            <a:endParaRPr lang="en-MW" b="1" dirty="0"/>
          </a:p>
        </p:txBody>
      </p:sp>
      <p:graphicFrame>
        <p:nvGraphicFramePr>
          <p:cNvPr id="4" name="Content Placeholder 3">
            <a:extLst>
              <a:ext uri="{FF2B5EF4-FFF2-40B4-BE49-F238E27FC236}">
                <a16:creationId xmlns:a16="http://schemas.microsoft.com/office/drawing/2014/main" id="{B5FF971D-B52F-3709-97C1-B67C029D781E}"/>
              </a:ext>
            </a:extLst>
          </p:cNvPr>
          <p:cNvGraphicFramePr>
            <a:graphicFrameLocks noGrp="1"/>
          </p:cNvGraphicFramePr>
          <p:nvPr>
            <p:ph idx="1"/>
            <p:extLst>
              <p:ext uri="{D42A27DB-BD31-4B8C-83A1-F6EECF244321}">
                <p14:modId xmlns:p14="http://schemas.microsoft.com/office/powerpoint/2010/main" val="2171321681"/>
              </p:ext>
            </p:extLst>
          </p:nvPr>
        </p:nvGraphicFramePr>
        <p:xfrm>
          <a:off x="0" y="1194319"/>
          <a:ext cx="12192000" cy="5941242"/>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082790551"/>
                    </a:ext>
                  </a:extLst>
                </a:gridCol>
                <a:gridCol w="4064000">
                  <a:extLst>
                    <a:ext uri="{9D8B030D-6E8A-4147-A177-3AD203B41FA5}">
                      <a16:colId xmlns:a16="http://schemas.microsoft.com/office/drawing/2014/main" val="2547451613"/>
                    </a:ext>
                  </a:extLst>
                </a:gridCol>
                <a:gridCol w="4064000">
                  <a:extLst>
                    <a:ext uri="{9D8B030D-6E8A-4147-A177-3AD203B41FA5}">
                      <a16:colId xmlns:a16="http://schemas.microsoft.com/office/drawing/2014/main" val="1704596175"/>
                    </a:ext>
                  </a:extLst>
                </a:gridCol>
              </a:tblGrid>
              <a:tr h="377142">
                <a:tc>
                  <a:txBody>
                    <a:bodyPr/>
                    <a:lstStyle/>
                    <a:p>
                      <a:r>
                        <a:rPr lang="en-US" b="1" dirty="0"/>
                        <a:t>Author(s)</a:t>
                      </a:r>
                      <a:endParaRPr lang="en-US" dirty="0"/>
                    </a:p>
                  </a:txBody>
                  <a:tcPr anchor="ctr"/>
                </a:tc>
                <a:tc>
                  <a:txBody>
                    <a:bodyPr/>
                    <a:lstStyle/>
                    <a:p>
                      <a:r>
                        <a:rPr lang="en-US" b="1" dirty="0"/>
                        <a:t>Title</a:t>
                      </a:r>
                      <a:endParaRPr lang="en-US" dirty="0"/>
                    </a:p>
                  </a:txBody>
                  <a:tcPr anchor="ctr"/>
                </a:tc>
                <a:tc>
                  <a:txBody>
                    <a:bodyPr/>
                    <a:lstStyle/>
                    <a:p>
                      <a:r>
                        <a:rPr lang="en-US" b="1" dirty="0"/>
                        <a:t>Contribution to this project</a:t>
                      </a:r>
                      <a:endParaRPr lang="en-US" dirty="0"/>
                    </a:p>
                  </a:txBody>
                  <a:tcPr anchor="ctr"/>
                </a:tc>
                <a:extLst>
                  <a:ext uri="{0D108BD9-81ED-4DB2-BD59-A6C34878D82A}">
                    <a16:rowId xmlns:a16="http://schemas.microsoft.com/office/drawing/2014/main" val="2036708681"/>
                  </a:ext>
                </a:extLst>
              </a:tr>
              <a:tr h="929940">
                <a:tc>
                  <a:txBody>
                    <a:bodyPr/>
                    <a:lstStyle/>
                    <a:p>
                      <a:r>
                        <a:rPr lang="en-US" dirty="0"/>
                        <a:t>A. J. </a:t>
                      </a:r>
                      <a:r>
                        <a:rPr lang="en-US" dirty="0" err="1"/>
                        <a:t>Oliner</a:t>
                      </a:r>
                      <a:r>
                        <a:rPr lang="en-US" dirty="0"/>
                        <a:t>, J. </a:t>
                      </a:r>
                      <a:r>
                        <a:rPr lang="en-US" dirty="0" err="1"/>
                        <a:t>Stearley</a:t>
                      </a:r>
                      <a:endParaRPr lang="en-US" dirty="0"/>
                    </a:p>
                  </a:txBody>
                  <a:tcPr anchor="ctr"/>
                </a:tc>
                <a:tc>
                  <a:txBody>
                    <a:bodyPr/>
                    <a:lstStyle/>
                    <a:p>
                      <a:r>
                        <a:rPr lang="en-US"/>
                        <a:t>What Supercomputers Say: A Study of Five System Logs</a:t>
                      </a:r>
                    </a:p>
                  </a:txBody>
                  <a:tcPr anchor="ctr"/>
                </a:tc>
                <a:tc>
                  <a:txBody>
                    <a:bodyPr/>
                    <a:lstStyle/>
                    <a:p>
                      <a:r>
                        <a:rPr lang="en-US"/>
                        <a:t>Provides real-world log patterns used to design effective log parsing and analysis.</a:t>
                      </a:r>
                    </a:p>
                  </a:txBody>
                  <a:tcPr anchor="ctr"/>
                </a:tc>
                <a:extLst>
                  <a:ext uri="{0D108BD9-81ED-4DB2-BD59-A6C34878D82A}">
                    <a16:rowId xmlns:a16="http://schemas.microsoft.com/office/drawing/2014/main" val="719805819"/>
                  </a:ext>
                </a:extLst>
              </a:tr>
              <a:tr h="929940">
                <a:tc>
                  <a:txBody>
                    <a:bodyPr/>
                    <a:lstStyle/>
                    <a:p>
                      <a:r>
                        <a:rPr lang="en-US"/>
                        <a:t>A. Oliner, A. Ganapathi, W. Xu</a:t>
                      </a:r>
                    </a:p>
                  </a:txBody>
                  <a:tcPr anchor="ctr"/>
                </a:tc>
                <a:tc>
                  <a:txBody>
                    <a:bodyPr/>
                    <a:lstStyle/>
                    <a:p>
                      <a:r>
                        <a:rPr lang="en-US"/>
                        <a:t>Advances and Challenges in Log Analysis</a:t>
                      </a:r>
                    </a:p>
                  </a:txBody>
                  <a:tcPr anchor="ctr"/>
                </a:tc>
                <a:tc>
                  <a:txBody>
                    <a:bodyPr/>
                    <a:lstStyle/>
                    <a:p>
                      <a:r>
                        <a:rPr lang="en-US"/>
                        <a:t>Guides system design by highlighting key challenges in log analytics systems.</a:t>
                      </a:r>
                    </a:p>
                  </a:txBody>
                  <a:tcPr anchor="ctr"/>
                </a:tc>
                <a:extLst>
                  <a:ext uri="{0D108BD9-81ED-4DB2-BD59-A6C34878D82A}">
                    <a16:rowId xmlns:a16="http://schemas.microsoft.com/office/drawing/2014/main" val="2746237748"/>
                  </a:ext>
                </a:extLst>
              </a:tr>
              <a:tr h="929940">
                <a:tc>
                  <a:txBody>
                    <a:bodyPr/>
                    <a:lstStyle/>
                    <a:p>
                      <a:r>
                        <a:rPr lang="en-US"/>
                        <a:t>Shilin He et al.</a:t>
                      </a:r>
                    </a:p>
                  </a:txBody>
                  <a:tcPr anchor="ctr"/>
                </a:tc>
                <a:tc>
                  <a:txBody>
                    <a:bodyPr/>
                    <a:lstStyle/>
                    <a:p>
                      <a:r>
                        <a:rPr lang="en-US"/>
                        <a:t>A Survey on Automated Log Analysis for Reliability Engineering</a:t>
                      </a:r>
                    </a:p>
                  </a:txBody>
                  <a:tcPr anchor="ctr"/>
                </a:tc>
                <a:tc>
                  <a:txBody>
                    <a:bodyPr/>
                    <a:lstStyle/>
                    <a:p>
                      <a:r>
                        <a:rPr lang="en-US"/>
                        <a:t>Supports implementation of automated log processing and anomaly detection features.</a:t>
                      </a:r>
                    </a:p>
                  </a:txBody>
                  <a:tcPr anchor="ctr"/>
                </a:tc>
                <a:extLst>
                  <a:ext uri="{0D108BD9-81ED-4DB2-BD59-A6C34878D82A}">
                    <a16:rowId xmlns:a16="http://schemas.microsoft.com/office/drawing/2014/main" val="714712898"/>
                  </a:ext>
                </a:extLst>
              </a:tr>
              <a:tr h="929940">
                <a:tc>
                  <a:txBody>
                    <a:bodyPr/>
                    <a:lstStyle/>
                    <a:p>
                      <a:r>
                        <a:rPr lang="en-US" dirty="0" err="1"/>
                        <a:t>Jeanderson</a:t>
                      </a:r>
                      <a:r>
                        <a:rPr lang="en-US" dirty="0"/>
                        <a:t> B. Cândido et al.</a:t>
                      </a:r>
                    </a:p>
                  </a:txBody>
                  <a:tcPr anchor="ctr"/>
                </a:tc>
                <a:tc>
                  <a:txBody>
                    <a:bodyPr/>
                    <a:lstStyle/>
                    <a:p>
                      <a:r>
                        <a:rPr lang="en-US"/>
                        <a:t>Log-based Software Monitoring: A Systematic Mapping Study</a:t>
                      </a:r>
                    </a:p>
                  </a:txBody>
                  <a:tcPr anchor="ctr"/>
                </a:tc>
                <a:tc>
                  <a:txBody>
                    <a:bodyPr/>
                    <a:lstStyle/>
                    <a:p>
                      <a:r>
                        <a:rPr lang="en-US"/>
                        <a:t>Helps define core functionalities like monitoring, error tracking, and diagnosis.</a:t>
                      </a:r>
                    </a:p>
                  </a:txBody>
                  <a:tcPr anchor="ctr"/>
                </a:tc>
                <a:extLst>
                  <a:ext uri="{0D108BD9-81ED-4DB2-BD59-A6C34878D82A}">
                    <a16:rowId xmlns:a16="http://schemas.microsoft.com/office/drawing/2014/main" val="118481356"/>
                  </a:ext>
                </a:extLst>
              </a:tr>
              <a:tr h="929940">
                <a:tc>
                  <a:txBody>
                    <a:bodyPr/>
                    <a:lstStyle/>
                    <a:p>
                      <a:r>
                        <a:rPr lang="en-US"/>
                        <a:t>Łukasz Korzeniowski &amp; Krzysztof Goczyła</a:t>
                      </a:r>
                    </a:p>
                  </a:txBody>
                  <a:tcPr anchor="ctr"/>
                </a:tc>
                <a:tc>
                  <a:txBody>
                    <a:bodyPr/>
                    <a:lstStyle/>
                    <a:p>
                      <a:r>
                        <a:rPr lang="en-US"/>
                        <a:t>Landscape of Automated Log Analysis</a:t>
                      </a:r>
                    </a:p>
                  </a:txBody>
                  <a:tcPr anchor="ctr"/>
                </a:tc>
                <a:tc>
                  <a:txBody>
                    <a:bodyPr/>
                    <a:lstStyle/>
                    <a:p>
                      <a:r>
                        <a:rPr lang="en-US"/>
                        <a:t>Identifies essential components for building a complete log analytics architecture.</a:t>
                      </a:r>
                    </a:p>
                  </a:txBody>
                  <a:tcPr anchor="ctr"/>
                </a:tc>
                <a:extLst>
                  <a:ext uri="{0D108BD9-81ED-4DB2-BD59-A6C34878D82A}">
                    <a16:rowId xmlns:a16="http://schemas.microsoft.com/office/drawing/2014/main" val="264159229"/>
                  </a:ext>
                </a:extLst>
              </a:tr>
              <a:tr h="650958">
                <a:tc>
                  <a:txBody>
                    <a:bodyPr/>
                    <a:lstStyle/>
                    <a:p>
                      <a:r>
                        <a:rPr lang="en-US"/>
                        <a:t>Tianzhu Zhang et al.</a:t>
                      </a:r>
                    </a:p>
                  </a:txBody>
                  <a:tcPr anchor="ctr"/>
                </a:tc>
                <a:tc>
                  <a:txBody>
                    <a:bodyPr/>
                    <a:lstStyle/>
                    <a:p>
                      <a:r>
                        <a:rPr lang="en-US"/>
                        <a:t>System Log Parsing: A Survey</a:t>
                      </a:r>
                    </a:p>
                  </a:txBody>
                  <a:tcPr anchor="ctr"/>
                </a:tc>
                <a:tc>
                  <a:txBody>
                    <a:bodyPr/>
                    <a:lstStyle/>
                    <a:p>
                      <a:r>
                        <a:rPr lang="en-US" dirty="0"/>
                        <a:t>Provides techniques for efficient log parsing and structuring in the system.</a:t>
                      </a:r>
                    </a:p>
                  </a:txBody>
                  <a:tcPr anchor="ctr"/>
                </a:tc>
                <a:extLst>
                  <a:ext uri="{0D108BD9-81ED-4DB2-BD59-A6C34878D82A}">
                    <a16:rowId xmlns:a16="http://schemas.microsoft.com/office/drawing/2014/main" val="1797253012"/>
                  </a:ext>
                </a:extLst>
              </a:tr>
            </a:tbl>
          </a:graphicData>
        </a:graphic>
      </p:graphicFrame>
    </p:spTree>
    <p:extLst>
      <p:ext uri="{BB962C8B-B14F-4D97-AF65-F5344CB8AC3E}">
        <p14:creationId xmlns:p14="http://schemas.microsoft.com/office/powerpoint/2010/main" val="24080857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F01DDFC4-DFBD-A286-B624-0FDE82D1BB0F}"/>
              </a:ext>
            </a:extLst>
          </p:cNvPr>
          <p:cNvGraphicFramePr>
            <a:graphicFrameLocks noGrp="1"/>
          </p:cNvGraphicFramePr>
          <p:nvPr>
            <p:ph idx="1"/>
            <p:extLst>
              <p:ext uri="{D42A27DB-BD31-4B8C-83A1-F6EECF244321}">
                <p14:modId xmlns:p14="http://schemas.microsoft.com/office/powerpoint/2010/main" val="598341404"/>
              </p:ext>
            </p:extLst>
          </p:nvPr>
        </p:nvGraphicFramePr>
        <p:xfrm>
          <a:off x="0" y="0"/>
          <a:ext cx="12192000" cy="73152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955851406"/>
                    </a:ext>
                  </a:extLst>
                </a:gridCol>
                <a:gridCol w="4064000">
                  <a:extLst>
                    <a:ext uri="{9D8B030D-6E8A-4147-A177-3AD203B41FA5}">
                      <a16:colId xmlns:a16="http://schemas.microsoft.com/office/drawing/2014/main" val="130407460"/>
                    </a:ext>
                  </a:extLst>
                </a:gridCol>
                <a:gridCol w="4064000">
                  <a:extLst>
                    <a:ext uri="{9D8B030D-6E8A-4147-A177-3AD203B41FA5}">
                      <a16:colId xmlns:a16="http://schemas.microsoft.com/office/drawing/2014/main" val="3646056741"/>
                    </a:ext>
                  </a:extLst>
                </a:gridCol>
              </a:tblGrid>
              <a:tr h="685800">
                <a:tc>
                  <a:txBody>
                    <a:bodyPr/>
                    <a:lstStyle/>
                    <a:p>
                      <a:r>
                        <a:rPr lang="en-US" dirty="0"/>
                        <a:t>R. Ren et al.</a:t>
                      </a:r>
                    </a:p>
                  </a:txBody>
                  <a:tcPr anchor="ctr"/>
                </a:tc>
                <a:tc>
                  <a:txBody>
                    <a:bodyPr/>
                    <a:lstStyle/>
                    <a:p>
                      <a:r>
                        <a:rPr lang="en-US" dirty="0" err="1"/>
                        <a:t>LogMaster</a:t>
                      </a:r>
                      <a:r>
                        <a:rPr lang="en-US" dirty="0"/>
                        <a:t>: Mining Event Correlations in Logs</a:t>
                      </a:r>
                    </a:p>
                  </a:txBody>
                  <a:tcPr anchor="ctr"/>
                </a:tc>
                <a:tc>
                  <a:txBody>
                    <a:bodyPr/>
                    <a:lstStyle/>
                    <a:p>
                      <a:r>
                        <a:rPr lang="en-US" dirty="0"/>
                        <a:t>Supports implementation of event correlation and trend detection features.</a:t>
                      </a:r>
                    </a:p>
                  </a:txBody>
                  <a:tcPr anchor="ctr"/>
                </a:tc>
                <a:extLst>
                  <a:ext uri="{0D108BD9-81ED-4DB2-BD59-A6C34878D82A}">
                    <a16:rowId xmlns:a16="http://schemas.microsoft.com/office/drawing/2014/main" val="2409559764"/>
                  </a:ext>
                </a:extLst>
              </a:tr>
              <a:tr h="685800">
                <a:tc>
                  <a:txBody>
                    <a:bodyPr/>
                    <a:lstStyle/>
                    <a:p>
                      <a:r>
                        <a:rPr lang="en-US"/>
                        <a:t>Liang Bao et al.</a:t>
                      </a:r>
                    </a:p>
                  </a:txBody>
                  <a:tcPr anchor="ctr"/>
                </a:tc>
                <a:tc>
                  <a:txBody>
                    <a:bodyPr/>
                    <a:lstStyle/>
                    <a:p>
                      <a:r>
                        <a:rPr lang="en-US" dirty="0"/>
                        <a:t>Execution Anomaly Detection in Large-Scale Systems</a:t>
                      </a:r>
                    </a:p>
                  </a:txBody>
                  <a:tcPr anchor="ctr"/>
                </a:tc>
                <a:tc>
                  <a:txBody>
                    <a:bodyPr/>
                    <a:lstStyle/>
                    <a:p>
                      <a:r>
                        <a:rPr lang="en-US" dirty="0"/>
                        <a:t>Guides anomaly detection logic for identifying unusual system behavior.</a:t>
                      </a:r>
                    </a:p>
                  </a:txBody>
                  <a:tcPr anchor="ctr"/>
                </a:tc>
                <a:extLst>
                  <a:ext uri="{0D108BD9-81ED-4DB2-BD59-A6C34878D82A}">
                    <a16:rowId xmlns:a16="http://schemas.microsoft.com/office/drawing/2014/main" val="711066482"/>
                  </a:ext>
                </a:extLst>
              </a:tr>
              <a:tr h="685800">
                <a:tc>
                  <a:txBody>
                    <a:bodyPr/>
                    <a:lstStyle/>
                    <a:p>
                      <a:r>
                        <a:rPr lang="en-US"/>
                        <a:t>S. Alspaugh et al.</a:t>
                      </a:r>
                    </a:p>
                  </a:txBody>
                  <a:tcPr anchor="ctr"/>
                </a:tc>
                <a:tc>
                  <a:txBody>
                    <a:bodyPr/>
                    <a:lstStyle/>
                    <a:p>
                      <a:r>
                        <a:rPr lang="en-US"/>
                        <a:t>Analyzing Log Analysis: An Empirical Study of User Log Mining</a:t>
                      </a:r>
                    </a:p>
                  </a:txBody>
                  <a:tcPr anchor="ctr"/>
                </a:tc>
                <a:tc>
                  <a:txBody>
                    <a:bodyPr/>
                    <a:lstStyle/>
                    <a:p>
                      <a:r>
                        <a:rPr lang="en-US" dirty="0"/>
                        <a:t>Helps design user activity tracking and usage analytics features.</a:t>
                      </a:r>
                    </a:p>
                  </a:txBody>
                  <a:tcPr anchor="ctr"/>
                </a:tc>
                <a:extLst>
                  <a:ext uri="{0D108BD9-81ED-4DB2-BD59-A6C34878D82A}">
                    <a16:rowId xmlns:a16="http://schemas.microsoft.com/office/drawing/2014/main" val="2633299833"/>
                  </a:ext>
                </a:extLst>
              </a:tr>
              <a:tr h="685800">
                <a:tc>
                  <a:txBody>
                    <a:bodyPr/>
                    <a:lstStyle/>
                    <a:p>
                      <a:r>
                        <a:rPr lang="en-US"/>
                        <a:t>Dihia Lanasri</a:t>
                      </a:r>
                    </a:p>
                  </a:txBody>
                  <a:tcPr anchor="ctr"/>
                </a:tc>
                <a:tc>
                  <a:txBody>
                    <a:bodyPr/>
                    <a:lstStyle/>
                    <a:p>
                      <a:r>
                        <a:rPr lang="en-US"/>
                        <a:t>Query Logs Analytics: A Systematic Literature Review</a:t>
                      </a:r>
                    </a:p>
                  </a:txBody>
                  <a:tcPr anchor="ctr"/>
                </a:tc>
                <a:tc>
                  <a:txBody>
                    <a:bodyPr/>
                    <a:lstStyle/>
                    <a:p>
                      <a:r>
                        <a:rPr lang="en-US" dirty="0"/>
                        <a:t>Supports handling and analysis of query-based and structured log data.</a:t>
                      </a:r>
                    </a:p>
                  </a:txBody>
                  <a:tcPr anchor="ctr"/>
                </a:tc>
                <a:extLst>
                  <a:ext uri="{0D108BD9-81ED-4DB2-BD59-A6C34878D82A}">
                    <a16:rowId xmlns:a16="http://schemas.microsoft.com/office/drawing/2014/main" val="2353242500"/>
                  </a:ext>
                </a:extLst>
              </a:tr>
              <a:tr h="685800">
                <a:tc>
                  <a:txBody>
                    <a:bodyPr/>
                    <a:lstStyle/>
                    <a:p>
                      <a:r>
                        <a:rPr lang="en-US" dirty="0" err="1"/>
                        <a:t>Ramasankar</a:t>
                      </a:r>
                      <a:r>
                        <a:rPr lang="en-US" dirty="0"/>
                        <a:t> </a:t>
                      </a:r>
                      <a:r>
                        <a:rPr lang="en-US" dirty="0" err="1"/>
                        <a:t>Molleti</a:t>
                      </a:r>
                      <a:endParaRPr lang="en-US" dirty="0"/>
                    </a:p>
                  </a:txBody>
                  <a:tcPr anchor="ctr"/>
                </a:tc>
                <a:tc>
                  <a:txBody>
                    <a:bodyPr/>
                    <a:lstStyle/>
                    <a:p>
                      <a:r>
                        <a:rPr lang="en-US"/>
                        <a:t>Analyzing Real-Time Application Logs for Decision Making</a:t>
                      </a:r>
                    </a:p>
                  </a:txBody>
                  <a:tcPr anchor="ctr"/>
                </a:tc>
                <a:tc>
                  <a:txBody>
                    <a:bodyPr/>
                    <a:lstStyle/>
                    <a:p>
                      <a:r>
                        <a:rPr lang="en-US" dirty="0"/>
                        <a:t>Reinforces need for real-time processing and dashboard visualization.</a:t>
                      </a:r>
                    </a:p>
                  </a:txBody>
                  <a:tcPr anchor="ctr"/>
                </a:tc>
                <a:extLst>
                  <a:ext uri="{0D108BD9-81ED-4DB2-BD59-A6C34878D82A}">
                    <a16:rowId xmlns:a16="http://schemas.microsoft.com/office/drawing/2014/main" val="4195150308"/>
                  </a:ext>
                </a:extLst>
              </a:tr>
              <a:tr h="685800">
                <a:tc>
                  <a:txBody>
                    <a:bodyPr/>
                    <a:lstStyle/>
                    <a:p>
                      <a:r>
                        <a:rPr lang="en-US"/>
                        <a:t>Guanyu Chen et al.</a:t>
                      </a:r>
                    </a:p>
                  </a:txBody>
                  <a:tcPr anchor="ctr"/>
                </a:tc>
                <a:tc>
                  <a:txBody>
                    <a:bodyPr/>
                    <a:lstStyle/>
                    <a:p>
                      <a:r>
                        <a:rPr lang="en-US"/>
                        <a:t>Understanding Log File Data from Educational Testing</a:t>
                      </a:r>
                    </a:p>
                  </a:txBody>
                  <a:tcPr anchor="ctr"/>
                </a:tc>
                <a:tc>
                  <a:txBody>
                    <a:bodyPr/>
                    <a:lstStyle/>
                    <a:p>
                      <a:r>
                        <a:rPr lang="en-US" dirty="0"/>
                        <a:t>Provides insights into extracting meaningful patterns from raw log data.</a:t>
                      </a:r>
                    </a:p>
                  </a:txBody>
                  <a:tcPr anchor="ctr"/>
                </a:tc>
                <a:extLst>
                  <a:ext uri="{0D108BD9-81ED-4DB2-BD59-A6C34878D82A}">
                    <a16:rowId xmlns:a16="http://schemas.microsoft.com/office/drawing/2014/main" val="2137025981"/>
                  </a:ext>
                </a:extLst>
              </a:tr>
              <a:tr h="685800">
                <a:tc>
                  <a:txBody>
                    <a:bodyPr/>
                    <a:lstStyle/>
                    <a:p>
                      <a:r>
                        <a:rPr lang="en-US"/>
                        <a:t>Edward Chuah et al.</a:t>
                      </a:r>
                    </a:p>
                  </a:txBody>
                  <a:tcPr anchor="ctr"/>
                </a:tc>
                <a:tc>
                  <a:txBody>
                    <a:bodyPr/>
                    <a:lstStyle/>
                    <a:p>
                      <a:r>
                        <a:rPr lang="en-US"/>
                        <a:t>Log-Correlation Tools for Cyberattack Detection</a:t>
                      </a:r>
                    </a:p>
                  </a:txBody>
                  <a:tcPr anchor="ctr"/>
                </a:tc>
                <a:tc>
                  <a:txBody>
                    <a:bodyPr/>
                    <a:lstStyle/>
                    <a:p>
                      <a:r>
                        <a:rPr lang="en-US" dirty="0"/>
                        <a:t>Supports implementation of security monitoring and threat detection features.</a:t>
                      </a:r>
                    </a:p>
                  </a:txBody>
                  <a:tcPr anchor="ctr"/>
                </a:tc>
                <a:extLst>
                  <a:ext uri="{0D108BD9-81ED-4DB2-BD59-A6C34878D82A}">
                    <a16:rowId xmlns:a16="http://schemas.microsoft.com/office/drawing/2014/main" val="430426311"/>
                  </a:ext>
                </a:extLst>
              </a:tr>
              <a:tr h="685800">
                <a:tc>
                  <a:txBody>
                    <a:bodyPr/>
                    <a:lstStyle/>
                    <a:p>
                      <a:r>
                        <a:rPr lang="en-US"/>
                        <a:t>J. Miransky et al.</a:t>
                      </a:r>
                    </a:p>
                  </a:txBody>
                  <a:tcPr anchor="ctr"/>
                </a:tc>
                <a:tc>
                  <a:txBody>
                    <a:bodyPr/>
                    <a:lstStyle/>
                    <a:p>
                      <a:r>
                        <a:rPr lang="en-US"/>
                        <a:t>Operational-Log Analysis for Big Data Systems</a:t>
                      </a:r>
                    </a:p>
                  </a:txBody>
                  <a:tcPr anchor="ctr"/>
                </a:tc>
                <a:tc>
                  <a:txBody>
                    <a:bodyPr/>
                    <a:lstStyle/>
                    <a:p>
                      <a:r>
                        <a:rPr lang="en-US" dirty="0"/>
                        <a:t>Guides scalability and performance considerations for large log datasets.</a:t>
                      </a:r>
                    </a:p>
                  </a:txBody>
                  <a:tcPr anchor="ctr"/>
                </a:tc>
                <a:extLst>
                  <a:ext uri="{0D108BD9-81ED-4DB2-BD59-A6C34878D82A}">
                    <a16:rowId xmlns:a16="http://schemas.microsoft.com/office/drawing/2014/main" val="3505904762"/>
                  </a:ext>
                </a:extLst>
              </a:tr>
              <a:tr h="685800">
                <a:tc>
                  <a:txBody>
                    <a:bodyPr/>
                    <a:lstStyle/>
                    <a:p>
                      <a:r>
                        <a:rPr lang="en-US"/>
                        <a:t>S. Messaoudi et al.</a:t>
                      </a:r>
                    </a:p>
                  </a:txBody>
                  <a:tcPr anchor="ctr"/>
                </a:tc>
                <a:tc>
                  <a:txBody>
                    <a:bodyPr/>
                    <a:lstStyle/>
                    <a:p>
                      <a:r>
                        <a:rPr lang="fr-FR"/>
                        <a:t>Log Message Format Identification Techniques</a:t>
                      </a:r>
                    </a:p>
                  </a:txBody>
                  <a:tcPr anchor="ctr"/>
                </a:tc>
                <a:tc>
                  <a:txBody>
                    <a:bodyPr/>
                    <a:lstStyle/>
                    <a:p>
                      <a:r>
                        <a:rPr lang="en-US" dirty="0"/>
                        <a:t>Helps in designing log format recognition and preprocessing modules.</a:t>
                      </a:r>
                    </a:p>
                  </a:txBody>
                  <a:tcPr anchor="ctr"/>
                </a:tc>
                <a:extLst>
                  <a:ext uri="{0D108BD9-81ED-4DB2-BD59-A6C34878D82A}">
                    <a16:rowId xmlns:a16="http://schemas.microsoft.com/office/drawing/2014/main" val="933337504"/>
                  </a:ext>
                </a:extLst>
              </a:tr>
            </a:tbl>
          </a:graphicData>
        </a:graphic>
      </p:graphicFrame>
    </p:spTree>
    <p:extLst>
      <p:ext uri="{BB962C8B-B14F-4D97-AF65-F5344CB8AC3E}">
        <p14:creationId xmlns:p14="http://schemas.microsoft.com/office/powerpoint/2010/main" val="5659798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42012-798C-88D1-4C04-72AED2D6C5AB}"/>
              </a:ext>
            </a:extLst>
          </p:cNvPr>
          <p:cNvSpPr>
            <a:spLocks noGrp="1"/>
          </p:cNvSpPr>
          <p:nvPr>
            <p:ph type="title"/>
          </p:nvPr>
        </p:nvSpPr>
        <p:spPr>
          <a:xfrm>
            <a:off x="838200" y="1"/>
            <a:ext cx="10515600" cy="886408"/>
          </a:xfrm>
        </p:spPr>
        <p:txBody>
          <a:bodyPr/>
          <a:lstStyle/>
          <a:p>
            <a:r>
              <a:rPr lang="en-US" b="1" dirty="0"/>
              <a:t>PLANNING FOR PROPOSED WORK</a:t>
            </a:r>
            <a:endParaRPr lang="en-MW" b="1" dirty="0"/>
          </a:p>
        </p:txBody>
      </p:sp>
      <p:graphicFrame>
        <p:nvGraphicFramePr>
          <p:cNvPr id="5" name="Content Placeholder 4">
            <a:extLst>
              <a:ext uri="{FF2B5EF4-FFF2-40B4-BE49-F238E27FC236}">
                <a16:creationId xmlns:a16="http://schemas.microsoft.com/office/drawing/2014/main" id="{AE5EE151-C340-2318-8664-1AA4475BDBEE}"/>
              </a:ext>
            </a:extLst>
          </p:cNvPr>
          <p:cNvGraphicFramePr>
            <a:graphicFrameLocks noGrp="1"/>
          </p:cNvGraphicFramePr>
          <p:nvPr>
            <p:ph idx="1"/>
            <p:extLst>
              <p:ext uri="{D42A27DB-BD31-4B8C-83A1-F6EECF244321}">
                <p14:modId xmlns:p14="http://schemas.microsoft.com/office/powerpoint/2010/main" val="329821611"/>
              </p:ext>
            </p:extLst>
          </p:nvPr>
        </p:nvGraphicFramePr>
        <p:xfrm>
          <a:off x="0" y="726439"/>
          <a:ext cx="12192000" cy="5898294"/>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719717423"/>
                    </a:ext>
                  </a:extLst>
                </a:gridCol>
                <a:gridCol w="3048000">
                  <a:extLst>
                    <a:ext uri="{9D8B030D-6E8A-4147-A177-3AD203B41FA5}">
                      <a16:colId xmlns:a16="http://schemas.microsoft.com/office/drawing/2014/main" val="3307574365"/>
                    </a:ext>
                  </a:extLst>
                </a:gridCol>
                <a:gridCol w="3048000">
                  <a:extLst>
                    <a:ext uri="{9D8B030D-6E8A-4147-A177-3AD203B41FA5}">
                      <a16:colId xmlns:a16="http://schemas.microsoft.com/office/drawing/2014/main" val="2730578118"/>
                    </a:ext>
                  </a:extLst>
                </a:gridCol>
                <a:gridCol w="3048000">
                  <a:extLst>
                    <a:ext uri="{9D8B030D-6E8A-4147-A177-3AD203B41FA5}">
                      <a16:colId xmlns:a16="http://schemas.microsoft.com/office/drawing/2014/main" val="2870561576"/>
                    </a:ext>
                  </a:extLst>
                </a:gridCol>
              </a:tblGrid>
              <a:tr h="391788">
                <a:tc>
                  <a:txBody>
                    <a:bodyPr/>
                    <a:lstStyle/>
                    <a:p>
                      <a:r>
                        <a:rPr lang="en-US" b="1" dirty="0"/>
                        <a:t>Review</a:t>
                      </a:r>
                      <a:endParaRPr lang="en-US" dirty="0"/>
                    </a:p>
                  </a:txBody>
                  <a:tcPr anchor="ctr"/>
                </a:tc>
                <a:tc>
                  <a:txBody>
                    <a:bodyPr/>
                    <a:lstStyle/>
                    <a:p>
                      <a:r>
                        <a:rPr lang="en-US" b="1" dirty="0"/>
                        <a:t>Focus</a:t>
                      </a:r>
                      <a:endParaRPr lang="en-US" dirty="0"/>
                    </a:p>
                  </a:txBody>
                  <a:tcPr anchor="ctr"/>
                </a:tc>
                <a:tc>
                  <a:txBody>
                    <a:bodyPr/>
                    <a:lstStyle/>
                    <a:p>
                      <a:r>
                        <a:rPr lang="en-US" b="1"/>
                        <a:t>Activities</a:t>
                      </a:r>
                      <a:endParaRPr lang="en-US"/>
                    </a:p>
                  </a:txBody>
                  <a:tcPr anchor="ctr"/>
                </a:tc>
                <a:tc>
                  <a:txBody>
                    <a:bodyPr/>
                    <a:lstStyle/>
                    <a:p>
                      <a:r>
                        <a:rPr lang="en-US" b="1"/>
                        <a:t>Deliverables</a:t>
                      </a:r>
                      <a:endParaRPr lang="en-US"/>
                    </a:p>
                  </a:txBody>
                  <a:tcPr anchor="ctr"/>
                </a:tc>
                <a:extLst>
                  <a:ext uri="{0D108BD9-81ED-4DB2-BD59-A6C34878D82A}">
                    <a16:rowId xmlns:a16="http://schemas.microsoft.com/office/drawing/2014/main" val="1608415386"/>
                  </a:ext>
                </a:extLst>
              </a:tr>
              <a:tr h="1545686">
                <a:tc>
                  <a:txBody>
                    <a:bodyPr/>
                    <a:lstStyle/>
                    <a:p>
                      <a:r>
                        <a:rPr lang="en-US"/>
                        <a:t>First Review</a:t>
                      </a:r>
                    </a:p>
                  </a:txBody>
                  <a:tcPr anchor="ctr"/>
                </a:tc>
                <a:tc>
                  <a:txBody>
                    <a:bodyPr/>
                    <a:lstStyle/>
                    <a:p>
                      <a:r>
                        <a:rPr lang="en-US"/>
                        <a:t>Requirements and System Design</a:t>
                      </a:r>
                    </a:p>
                  </a:txBody>
                  <a:tcPr anchor="ctr"/>
                </a:tc>
                <a:tc>
                  <a:txBody>
                    <a:bodyPr/>
                    <a:lstStyle/>
                    <a:p>
                      <a:r>
                        <a:rPr lang="en-US"/>
                        <a:t>Identify system requirements, design system architecture, define database schema, and plan log parsing approach</a:t>
                      </a:r>
                    </a:p>
                  </a:txBody>
                  <a:tcPr anchor="ctr"/>
                </a:tc>
                <a:tc>
                  <a:txBody>
                    <a:bodyPr/>
                    <a:lstStyle/>
                    <a:p>
                      <a:r>
                        <a:rPr lang="en-US"/>
                        <a:t>Requirements document, system architecture diagrams, database schema</a:t>
                      </a:r>
                    </a:p>
                  </a:txBody>
                  <a:tcPr anchor="ctr"/>
                </a:tc>
                <a:extLst>
                  <a:ext uri="{0D108BD9-81ED-4DB2-BD59-A6C34878D82A}">
                    <a16:rowId xmlns:a16="http://schemas.microsoft.com/office/drawing/2014/main" val="2898877978"/>
                  </a:ext>
                </a:extLst>
              </a:tr>
              <a:tr h="2125318">
                <a:tc>
                  <a:txBody>
                    <a:bodyPr/>
                    <a:lstStyle/>
                    <a:p>
                      <a:r>
                        <a:rPr lang="en-US"/>
                        <a:t>Second Review</a:t>
                      </a:r>
                    </a:p>
                  </a:txBody>
                  <a:tcPr anchor="ctr"/>
                </a:tc>
                <a:tc>
                  <a:txBody>
                    <a:bodyPr/>
                    <a:lstStyle/>
                    <a:p>
                      <a:r>
                        <a:rPr lang="en-US"/>
                        <a:t>System Development and Testing</a:t>
                      </a:r>
                    </a:p>
                  </a:txBody>
                  <a:tcPr anchor="ctr"/>
                </a:tc>
                <a:tc>
                  <a:txBody>
                    <a:bodyPr/>
                    <a:lstStyle/>
                    <a:p>
                      <a:r>
                        <a:rPr lang="en-US"/>
                        <a:t>Implement core modules including file upload, log parsing, data storage, analytics computation, and dashboard visualization. Conduct initial testing and debugging</a:t>
                      </a:r>
                    </a:p>
                  </a:txBody>
                  <a:tcPr anchor="ctr"/>
                </a:tc>
                <a:tc>
                  <a:txBody>
                    <a:bodyPr/>
                    <a:lstStyle/>
                    <a:p>
                      <a:r>
                        <a:rPr lang="en-US"/>
                        <a:t>Functional prototype, test results report, 50% documentation</a:t>
                      </a:r>
                    </a:p>
                  </a:txBody>
                  <a:tcPr anchor="ctr"/>
                </a:tc>
                <a:extLst>
                  <a:ext uri="{0D108BD9-81ED-4DB2-BD59-A6C34878D82A}">
                    <a16:rowId xmlns:a16="http://schemas.microsoft.com/office/drawing/2014/main" val="684000010"/>
                  </a:ext>
                </a:extLst>
              </a:tr>
              <a:tr h="1835502">
                <a:tc>
                  <a:txBody>
                    <a:bodyPr/>
                    <a:lstStyle/>
                    <a:p>
                      <a:r>
                        <a:rPr lang="en-US"/>
                        <a:t>Third Review</a:t>
                      </a:r>
                    </a:p>
                  </a:txBody>
                  <a:tcPr anchor="ctr"/>
                </a:tc>
                <a:tc>
                  <a:txBody>
                    <a:bodyPr/>
                    <a:lstStyle/>
                    <a:p>
                      <a:r>
                        <a:rPr lang="en-US"/>
                        <a:t>Final Implementation and Evaluation</a:t>
                      </a:r>
                    </a:p>
                  </a:txBody>
                  <a:tcPr anchor="ctr"/>
                </a:tc>
                <a:tc>
                  <a:txBody>
                    <a:bodyPr/>
                    <a:lstStyle/>
                    <a:p>
                      <a:r>
                        <a:rPr lang="en-US"/>
                        <a:t>Complete system integration, optimize performance, conduct final testing, evaluate system efficiency, and prepare presentation</a:t>
                      </a:r>
                    </a:p>
                  </a:txBody>
                  <a:tcPr anchor="ctr"/>
                </a:tc>
                <a:tc>
                  <a:txBody>
                    <a:bodyPr/>
                    <a:lstStyle/>
                    <a:p>
                      <a:r>
                        <a:rPr lang="en-US" dirty="0"/>
                        <a:t>Completed system, evaluation report, final presentation, final documentation</a:t>
                      </a:r>
                    </a:p>
                  </a:txBody>
                  <a:tcPr anchor="ctr"/>
                </a:tc>
                <a:extLst>
                  <a:ext uri="{0D108BD9-81ED-4DB2-BD59-A6C34878D82A}">
                    <a16:rowId xmlns:a16="http://schemas.microsoft.com/office/drawing/2014/main" val="3675419880"/>
                  </a:ext>
                </a:extLst>
              </a:tr>
            </a:tbl>
          </a:graphicData>
        </a:graphic>
      </p:graphicFrame>
    </p:spTree>
    <p:extLst>
      <p:ext uri="{BB962C8B-B14F-4D97-AF65-F5344CB8AC3E}">
        <p14:creationId xmlns:p14="http://schemas.microsoft.com/office/powerpoint/2010/main" val="27429091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D7461-D458-D232-A7B6-D6F9CC9AF0D1}"/>
              </a:ext>
            </a:extLst>
          </p:cNvPr>
          <p:cNvSpPr>
            <a:spLocks noGrp="1"/>
          </p:cNvSpPr>
          <p:nvPr>
            <p:ph type="title"/>
          </p:nvPr>
        </p:nvSpPr>
        <p:spPr/>
        <p:txBody>
          <a:bodyPr/>
          <a:lstStyle/>
          <a:p>
            <a:r>
              <a:rPr lang="en-US" b="1" dirty="0"/>
              <a:t>CONCLUSION</a:t>
            </a:r>
            <a:endParaRPr lang="en-MW" b="1" dirty="0"/>
          </a:p>
        </p:txBody>
      </p:sp>
      <p:sp>
        <p:nvSpPr>
          <p:cNvPr id="3" name="Content Placeholder 2">
            <a:extLst>
              <a:ext uri="{FF2B5EF4-FFF2-40B4-BE49-F238E27FC236}">
                <a16:creationId xmlns:a16="http://schemas.microsoft.com/office/drawing/2014/main" id="{685FA0E3-4E99-4517-E383-942F40184945}"/>
              </a:ext>
            </a:extLst>
          </p:cNvPr>
          <p:cNvSpPr>
            <a:spLocks noGrp="1"/>
          </p:cNvSpPr>
          <p:nvPr>
            <p:ph idx="1"/>
          </p:nvPr>
        </p:nvSpPr>
        <p:spPr/>
        <p:txBody>
          <a:bodyPr>
            <a:normAutofit/>
          </a:bodyPr>
          <a:lstStyle/>
          <a:p>
            <a:r>
              <a:rPr lang="en-US" dirty="0"/>
              <a:t>The Log Analytics Platform provides a comprehensive solution for collecting, processing, and analyzing log data from multiple sources in real-time. By transforming raw logs into actionable insights, it enables organizations to monitor system performance, detect errors, track user activity, and identify security threats efficiently. The modular architecture ensures scalability, ease of maintenance, and flexibility for future enhancements. Through interactive dashboards, automated alerts, and detailed reporting, the platform empowers decision-makers to respond proactively to operational issues. Overall, this project demonstrates the effectiveness of integrating data collection, processing, and analytics into a unified system to improve reliability, security, and performance across complex IT environments.</a:t>
            </a:r>
          </a:p>
          <a:p>
            <a:endParaRPr lang="en-MW" dirty="0"/>
          </a:p>
        </p:txBody>
      </p:sp>
    </p:spTree>
    <p:extLst>
      <p:ext uri="{BB962C8B-B14F-4D97-AF65-F5344CB8AC3E}">
        <p14:creationId xmlns:p14="http://schemas.microsoft.com/office/powerpoint/2010/main" val="3164276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1FA4D-99A2-5773-7B39-79213D5FE146}"/>
              </a:ext>
            </a:extLst>
          </p:cNvPr>
          <p:cNvSpPr>
            <a:spLocks noGrp="1"/>
          </p:cNvSpPr>
          <p:nvPr>
            <p:ph type="title"/>
          </p:nvPr>
        </p:nvSpPr>
        <p:spPr/>
        <p:txBody>
          <a:bodyPr/>
          <a:lstStyle/>
          <a:p>
            <a:r>
              <a:rPr lang="en-US" b="1" dirty="0"/>
              <a:t>Authentication Module</a:t>
            </a:r>
            <a:endParaRPr lang="en-MW" dirty="0"/>
          </a:p>
        </p:txBody>
      </p:sp>
      <p:pic>
        <p:nvPicPr>
          <p:cNvPr id="5" name="Content Placeholder 4">
            <a:extLst>
              <a:ext uri="{FF2B5EF4-FFF2-40B4-BE49-F238E27FC236}">
                <a16:creationId xmlns:a16="http://schemas.microsoft.com/office/drawing/2014/main" id="{9BC2BD4B-8B48-D7DE-7039-FDCF47A3884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863" y="2174083"/>
            <a:ext cx="8596312" cy="3854446"/>
          </a:xfrm>
        </p:spPr>
      </p:pic>
    </p:spTree>
    <p:extLst>
      <p:ext uri="{BB962C8B-B14F-4D97-AF65-F5344CB8AC3E}">
        <p14:creationId xmlns:p14="http://schemas.microsoft.com/office/powerpoint/2010/main" val="22735169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3490D-9312-2004-5B48-D02FC485FD5C}"/>
              </a:ext>
            </a:extLst>
          </p:cNvPr>
          <p:cNvSpPr>
            <a:spLocks noGrp="1"/>
          </p:cNvSpPr>
          <p:nvPr>
            <p:ph type="title"/>
          </p:nvPr>
        </p:nvSpPr>
        <p:spPr/>
        <p:txBody>
          <a:bodyPr/>
          <a:lstStyle/>
          <a:p>
            <a:r>
              <a:rPr lang="en-US" b="1" dirty="0"/>
              <a:t>Analytics Module</a:t>
            </a:r>
            <a:endParaRPr lang="en-MW" dirty="0"/>
          </a:p>
        </p:txBody>
      </p:sp>
      <p:pic>
        <p:nvPicPr>
          <p:cNvPr id="5" name="Content Placeholder 4" descr="A screenshot of a computer&#10;&#10;AI-generated content may be incorrect.">
            <a:extLst>
              <a:ext uri="{FF2B5EF4-FFF2-40B4-BE49-F238E27FC236}">
                <a16:creationId xmlns:a16="http://schemas.microsoft.com/office/drawing/2014/main" id="{AB63D83D-95A2-C162-5692-7A8988EFF98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863" y="2174083"/>
            <a:ext cx="8596312" cy="3854446"/>
          </a:xfrm>
        </p:spPr>
      </p:pic>
      <p:pic>
        <p:nvPicPr>
          <p:cNvPr id="7" name="Picture 6">
            <a:extLst>
              <a:ext uri="{FF2B5EF4-FFF2-40B4-BE49-F238E27FC236}">
                <a16:creationId xmlns:a16="http://schemas.microsoft.com/office/drawing/2014/main" id="{409BC1DD-6BEF-CBAF-DFED-2859458EAA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706174"/>
            <a:ext cx="12192000" cy="5218560"/>
          </a:xfrm>
          <a:prstGeom prst="rect">
            <a:avLst/>
          </a:prstGeom>
        </p:spPr>
      </p:pic>
    </p:spTree>
    <p:extLst>
      <p:ext uri="{BB962C8B-B14F-4D97-AF65-F5344CB8AC3E}">
        <p14:creationId xmlns:p14="http://schemas.microsoft.com/office/powerpoint/2010/main" val="28728639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BDEF0-469B-A966-D6CD-B21B83A58726}"/>
              </a:ext>
            </a:extLst>
          </p:cNvPr>
          <p:cNvSpPr>
            <a:spLocks noGrp="1"/>
          </p:cNvSpPr>
          <p:nvPr>
            <p:ph type="title"/>
          </p:nvPr>
        </p:nvSpPr>
        <p:spPr/>
        <p:txBody>
          <a:bodyPr/>
          <a:lstStyle/>
          <a:p>
            <a:r>
              <a:rPr lang="en-US" b="1" dirty="0"/>
              <a:t>Log Viewer Module</a:t>
            </a:r>
            <a:endParaRPr lang="en-MW" dirty="0"/>
          </a:p>
        </p:txBody>
      </p:sp>
      <p:pic>
        <p:nvPicPr>
          <p:cNvPr id="5" name="Content Placeholder 4">
            <a:extLst>
              <a:ext uri="{FF2B5EF4-FFF2-40B4-BE49-F238E27FC236}">
                <a16:creationId xmlns:a16="http://schemas.microsoft.com/office/drawing/2014/main" id="{936F3085-9547-4472-CFA9-B41A9AD3A80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2374" y="2160588"/>
            <a:ext cx="8487289" cy="3881437"/>
          </a:xfrm>
        </p:spPr>
      </p:pic>
    </p:spTree>
    <p:extLst>
      <p:ext uri="{BB962C8B-B14F-4D97-AF65-F5344CB8AC3E}">
        <p14:creationId xmlns:p14="http://schemas.microsoft.com/office/powerpoint/2010/main" val="11572060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D2B5C-6D2E-FB18-522C-F4A016BDC0A9}"/>
              </a:ext>
            </a:extLst>
          </p:cNvPr>
          <p:cNvSpPr>
            <a:spLocks noGrp="1"/>
          </p:cNvSpPr>
          <p:nvPr>
            <p:ph type="title"/>
          </p:nvPr>
        </p:nvSpPr>
        <p:spPr/>
        <p:txBody>
          <a:bodyPr/>
          <a:lstStyle/>
          <a:p>
            <a:r>
              <a:rPr lang="en-US" b="1" dirty="0"/>
              <a:t>Log Parsing Module</a:t>
            </a:r>
            <a:endParaRPr lang="en-MW" dirty="0"/>
          </a:p>
        </p:txBody>
      </p:sp>
      <p:pic>
        <p:nvPicPr>
          <p:cNvPr id="5" name="Content Placeholder 4">
            <a:extLst>
              <a:ext uri="{FF2B5EF4-FFF2-40B4-BE49-F238E27FC236}">
                <a16:creationId xmlns:a16="http://schemas.microsoft.com/office/drawing/2014/main" id="{D0A03520-60F9-8CEC-87F9-A3A831BB1209}"/>
              </a:ext>
            </a:extLst>
          </p:cNvPr>
          <p:cNvPicPr>
            <a:picLocks noGrp="1" noChangeAspect="1"/>
          </p:cNvPicPr>
          <p:nvPr>
            <p:ph idx="1"/>
          </p:nvPr>
        </p:nvPicPr>
        <p:blipFill>
          <a:blip r:embed="rId2"/>
          <a:stretch>
            <a:fillRect/>
          </a:stretch>
        </p:blipFill>
        <p:spPr>
          <a:xfrm>
            <a:off x="746991" y="2160588"/>
            <a:ext cx="8458056" cy="3881437"/>
          </a:xfrm>
        </p:spPr>
      </p:pic>
      <p:pic>
        <p:nvPicPr>
          <p:cNvPr id="7" name="Picture 6" descr="A screenshot of a computer&#10;&#10;AI-generated content may be incorrect.">
            <a:extLst>
              <a:ext uri="{FF2B5EF4-FFF2-40B4-BE49-F238E27FC236}">
                <a16:creationId xmlns:a16="http://schemas.microsoft.com/office/drawing/2014/main" id="{F4E00536-25C9-3868-0774-3F5FE03F0A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825625"/>
            <a:ext cx="12192000" cy="5373382"/>
          </a:xfrm>
          <a:prstGeom prst="rect">
            <a:avLst/>
          </a:prstGeom>
        </p:spPr>
      </p:pic>
    </p:spTree>
    <p:extLst>
      <p:ext uri="{BB962C8B-B14F-4D97-AF65-F5344CB8AC3E}">
        <p14:creationId xmlns:p14="http://schemas.microsoft.com/office/powerpoint/2010/main" val="38954493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381E1-1F30-35BA-F25F-700F27A806C4}"/>
              </a:ext>
            </a:extLst>
          </p:cNvPr>
          <p:cNvSpPr>
            <a:spLocks noGrp="1"/>
          </p:cNvSpPr>
          <p:nvPr>
            <p:ph type="title"/>
          </p:nvPr>
        </p:nvSpPr>
        <p:spPr/>
        <p:txBody>
          <a:bodyPr/>
          <a:lstStyle/>
          <a:p>
            <a:r>
              <a:rPr lang="en-US" b="1" dirty="0"/>
              <a:t>Dataset Management Module</a:t>
            </a:r>
            <a:endParaRPr lang="en-MW" dirty="0"/>
          </a:p>
        </p:txBody>
      </p:sp>
      <p:pic>
        <p:nvPicPr>
          <p:cNvPr id="5" name="Content Placeholder 4">
            <a:extLst>
              <a:ext uri="{FF2B5EF4-FFF2-40B4-BE49-F238E27FC236}">
                <a16:creationId xmlns:a16="http://schemas.microsoft.com/office/drawing/2014/main" id="{70B6C585-7968-DB3C-D928-DD20787CAF5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863" y="2172848"/>
            <a:ext cx="8596312" cy="3856917"/>
          </a:xfrm>
        </p:spPr>
      </p:pic>
    </p:spTree>
    <p:extLst>
      <p:ext uri="{BB962C8B-B14F-4D97-AF65-F5344CB8AC3E}">
        <p14:creationId xmlns:p14="http://schemas.microsoft.com/office/powerpoint/2010/main" val="158224851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3806</TotalTime>
  <Words>1259</Words>
  <Application>Microsoft Office PowerPoint</Application>
  <PresentationFormat>Widescreen</PresentationFormat>
  <Paragraphs>96</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Times New Roman</vt:lpstr>
      <vt:lpstr>Trebuchet MS</vt:lpstr>
      <vt:lpstr>Wingdings 3</vt:lpstr>
      <vt:lpstr>Facet</vt:lpstr>
      <vt:lpstr>FISCAL ANOMALY AND FRAUD DETECTON SYSTEM</vt:lpstr>
      <vt:lpstr>ABSTRACT</vt:lpstr>
      <vt:lpstr>MODULE DESCRIPTION </vt:lpstr>
      <vt:lpstr>CONT…</vt:lpstr>
      <vt:lpstr>CONT…</vt:lpstr>
      <vt:lpstr>CONT…</vt:lpstr>
      <vt:lpstr>CONT….</vt:lpstr>
      <vt:lpstr>LITERATURE REVIEW</vt:lpstr>
      <vt:lpstr>PowerPoint Presentation</vt:lpstr>
      <vt:lpstr>PLANNING FOR PROPOSED WORK</vt:lpstr>
      <vt:lpstr>CONCLUSION</vt:lpstr>
      <vt:lpstr>Authentication Module</vt:lpstr>
      <vt:lpstr>Analytics Module</vt:lpstr>
      <vt:lpstr>Log Viewer Module</vt:lpstr>
      <vt:lpstr>Log Parsing Module</vt:lpstr>
      <vt:lpstr>Dataset Management Module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Asante Mbaya</dc:creator>
  <cp:lastModifiedBy>Asante Mbaya</cp:lastModifiedBy>
  <cp:revision>28</cp:revision>
  <dcterms:created xsi:type="dcterms:W3CDTF">2026-03-26T13:44:21Z</dcterms:created>
  <dcterms:modified xsi:type="dcterms:W3CDTF">2026-05-13T10:12:19Z</dcterms:modified>
</cp:coreProperties>
</file>